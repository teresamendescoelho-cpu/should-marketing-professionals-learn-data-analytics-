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Salary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Entry Level</c:v>
                </c:pt>
                <c:pt idx="1">
                  <c:v>Mid Level</c:v>
                </c:pt>
                <c:pt idx="2">
                  <c:v>Senior Level</c:v>
                </c:pt>
                <c:pt idx="3">
                  <c:v>Executive Level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61</c:v>
                </c:pt>
                <c:pt idx="2">
                  <c:v>88</c:v>
                </c:pt>
                <c:pt idx="3">
                  <c:v>142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0.0"/>
          <c:min val="0.0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Starting Salary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Entry</c:v>
                </c:pt>
                <c:pt idx="1">
                  <c:v>Mid</c:v>
                </c:pt>
                <c:pt idx="2">
                  <c:v>Senior</c:v>
                </c:pt>
                <c:pt idx="3">
                  <c:v>Executive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61</c:v>
                </c:pt>
                <c:pt idx="2">
                  <c:v>88</c:v>
                </c:pt>
                <c:pt idx="3">
                  <c:v>142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60.0"/>
          <c:min val="0.0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Gradient
Boosting</c:v>
                </c:pt>
                <c:pt idx="2">
                  <c:v>Random
Forest</c:v>
                </c:pt>
                <c:pt idx="3">
                  <c:v>Decision
Tree</c:v>
                </c:pt>
                <c:pt idx="4">
                  <c:v>Linear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</c:v>
                </c:pt>
                <c:pt idx="1">
                  <c:v>0.91</c:v>
                </c:pt>
                <c:pt idx="2">
                  <c:v>0.89</c:v>
                </c:pt>
                <c:pt idx="3">
                  <c:v>0.75</c:v>
                </c:pt>
                <c:pt idx="4">
                  <c:v>0.71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tory_photo_academ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03320" cy="6858000"/>
          </a:xfrm>
          <a:prstGeom prst="rect">
            <a:avLst/>
          </a:prstGeom>
        </p:spPr>
      </p:pic>
      <p:pic>
        <p:nvPicPr>
          <p:cNvPr id="3" name="Picture 2" descr="story_photo_academ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70332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069080" y="822960"/>
            <a:ext cx="7223760" cy="12801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100" b="1" i="0">
                <a:solidFill>
                  <a:srgbClr val="231E5C"/>
                </a:solidFill>
                <a:latin typeface="Aptos"/>
              </a:defRPr>
            </a:pPr>
            <a:r>
              <a:t>Should Marketing</a:t>
            </a:r>
            <a:br/>
            <a:r>
              <a:t>Professionals Learn</a:t>
            </a:r>
            <a:br/>
            <a:r>
              <a:t>Data Analytics?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6512" y="2331720"/>
            <a:ext cx="67665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 i="0">
                <a:solidFill>
                  <a:srgbClr val="23232D"/>
                </a:solidFill>
                <a:latin typeface="Aptos"/>
              </a:defRPr>
            </a:pPr>
            <a:r>
              <a:t>A Data-Driven Approach</a:t>
            </a:r>
            <a:br/>
            <a:r>
              <a:t>to Career &amp; Business Success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96512" y="498348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1" i="0">
                <a:solidFill>
                  <a:srgbClr val="231E5C"/>
                </a:solidFill>
                <a:latin typeface="Aptos"/>
              </a:defRPr>
            </a:pPr>
            <a:r>
              <a:t>Teresa Mendes Coelho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394960"/>
            <a:ext cx="5669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0" i="0">
                <a:solidFill>
                  <a:srgbClr val="5F5F69"/>
                </a:solidFill>
                <a:latin typeface="Aptos"/>
              </a:defRPr>
            </a:pPr>
            <a:r>
              <a:t>Ironhack Data Analytics Bootcamp</a:t>
            </a:r>
            <a:br/>
            <a:r>
              <a:t>Final Project • June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61320" y="5257800"/>
            <a:ext cx="914400" cy="822960"/>
          </a:xfrm>
          <a:prstGeom prst="roundRect">
            <a:avLst/>
          </a:prstGeom>
          <a:solidFill>
            <a:srgbClr val="231E5C"/>
          </a:solidFill>
          <a:ln>
            <a:solidFill>
              <a:srgbClr val="231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25328" y="5376672"/>
            <a:ext cx="786384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Aptos"/>
              </a:defRPr>
            </a:pPr>
            <a:r>
              <a:t>IRON</a:t>
            </a:r>
            <a:br/>
            <a:r>
              <a:t>HACK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96512" y="6080760"/>
            <a:ext cx="67665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0" b="1" i="0">
                <a:solidFill>
                  <a:srgbClr val="5B3499"/>
                </a:solidFill>
                <a:latin typeface="Aptos"/>
              </a:defRPr>
            </a:pPr>
            <a:r>
              <a:t>Marketing • Strategy • Data •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THE BUSINESS QUESTION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011680"/>
            <a:ext cx="1143000" cy="114300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39112"/>
            <a:ext cx="11430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828800"/>
            <a:ext cx="813816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23232D"/>
                </a:solidFill>
                <a:latin typeface="Aptos"/>
              </a:defRPr>
            </a:pPr>
            <a:r>
              <a:t>Which factors are most</a:t>
            </a:r>
            <a:br/>
            <a:r>
              <a:t>associated with career level</a:t>
            </a:r>
            <a:br/>
            <a:r>
              <a:t>and business success?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3154680"/>
            <a:ext cx="81381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 i="0">
                <a:solidFill>
                  <a:srgbClr val="5F5F69"/>
                </a:solidFill>
                <a:latin typeface="Aptos"/>
              </a:defRPr>
            </a:pPr>
            <a:r>
              <a:t>To answer this, I used real data and a complete</a:t>
            </a:r>
            <a:br/>
            <a:r>
              <a:t>data analytics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DATA &amp; ANALYTICAL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From raw data to actionable insights.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658368" cy="658368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56231"/>
            <a:ext cx="658368" cy="612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5176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063240"/>
            <a:ext cx="1508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 i="0">
                <a:solidFill>
                  <a:srgbClr val="5F5F69"/>
                </a:solidFill>
                <a:latin typeface="Aptos"/>
              </a:defRPr>
            </a:pPr>
            <a:r>
              <a:t>Web scraping</a:t>
            </a:r>
            <a:br/>
            <a:r>
              <a:t>&amp; APIs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933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5F5F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2971800" y="1828800"/>
            <a:ext cx="658368" cy="658368"/>
          </a:xfrm>
          <a:prstGeom prst="ellipse">
            <a:avLst/>
          </a:prstGeom>
          <a:solidFill>
            <a:srgbClr val="26807D"/>
          </a:solidFill>
          <a:ln>
            <a:solidFill>
              <a:srgbClr val="26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856231"/>
            <a:ext cx="658368" cy="612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5176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063240"/>
            <a:ext cx="1508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 i="0">
                <a:solidFill>
                  <a:srgbClr val="5F5F69"/>
                </a:solidFill>
                <a:latin typeface="Aptos"/>
              </a:defRPr>
            </a:pPr>
            <a:r>
              <a:t>Clean &amp;</a:t>
            </a:r>
            <a:br/>
            <a: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77639" y="19933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5F5F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5212080" y="1828800"/>
            <a:ext cx="658368" cy="658368"/>
          </a:xfrm>
          <a:prstGeom prst="ellipse">
            <a:avLst/>
          </a:prstGeom>
          <a:solidFill>
            <a:srgbClr val="231E5C"/>
          </a:solidFill>
          <a:ln>
            <a:solidFill>
              <a:srgbClr val="231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0" y="1856231"/>
            <a:ext cx="658368" cy="612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65176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063240"/>
            <a:ext cx="1508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 i="0">
                <a:solidFill>
                  <a:srgbClr val="5F5F69"/>
                </a:solidFill>
                <a:latin typeface="Aptos"/>
              </a:defRPr>
            </a:pPr>
            <a:r>
              <a:t>Validate &amp;</a:t>
            </a:r>
            <a:br/>
            <a: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9933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5F5F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7452360" y="1828800"/>
            <a:ext cx="658368" cy="658368"/>
          </a:xfrm>
          <a:prstGeom prst="ellipse">
            <a:avLst/>
          </a:prstGeom>
          <a:solidFill>
            <a:srgbClr val="26807D"/>
          </a:solidFill>
          <a:ln>
            <a:solidFill>
              <a:srgbClr val="26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1856231"/>
            <a:ext cx="658368" cy="612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65176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3063240"/>
            <a:ext cx="1508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 i="0">
                <a:solidFill>
                  <a:srgbClr val="5F5F69"/>
                </a:solidFill>
                <a:latin typeface="Aptos"/>
              </a:defRPr>
            </a:pPr>
            <a:r>
              <a:t>Analysis &amp;</a:t>
            </a:r>
            <a:br/>
            <a: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1993392"/>
            <a:ext cx="548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5F5F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9692640" y="1828800"/>
            <a:ext cx="658368" cy="658368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1856231"/>
            <a:ext cx="658368" cy="61264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651760"/>
            <a:ext cx="1143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Visualise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063240"/>
            <a:ext cx="150876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0" i="0">
                <a:solidFill>
                  <a:srgbClr val="5F5F69"/>
                </a:solidFill>
                <a:latin typeface="Aptos"/>
              </a:defRPr>
            </a:pPr>
            <a:r>
              <a:t>Tableau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CAREER LEVELS &amp; SALARY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Average Salary by Career Level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760720"/>
            <a:ext cx="102412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Salary increases consistently with career level.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SALARY DISTRIBUTION BY CAREER 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Higher levels show greater salary potential and variability.</a:t>
            </a:r>
          </a:p>
        </p:txBody>
      </p:sp>
      <p:sp>
        <p:nvSpPr>
          <p:cNvPr id="5" name="Oval 4"/>
          <p:cNvSpPr/>
          <p:nvPr/>
        </p:nvSpPr>
        <p:spPr>
          <a:xfrm>
            <a:off x="1508760" y="2560320"/>
            <a:ext cx="1005840" cy="1828800"/>
          </a:xfrm>
          <a:prstGeom prst="ellipse">
            <a:avLst/>
          </a:prstGeom>
          <a:solidFill>
            <a:srgbClr val="2680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4248" y="2788920"/>
            <a:ext cx="54864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" b="0" i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417320" y="4983480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231E5C"/>
                </a:solidFill>
                <a:latin typeface="Aptos"/>
              </a:defRPr>
            </a:pPr>
            <a:r>
              <a:t>Entry Level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83664" y="3383279"/>
            <a:ext cx="256032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60520" y="2331720"/>
            <a:ext cx="1005840" cy="2286000"/>
          </a:xfrm>
          <a:prstGeom prst="ellipse">
            <a:avLst/>
          </a:prstGeom>
          <a:solidFill>
            <a:srgbClr val="26807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2560320"/>
            <a:ext cx="54864" cy="1828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" b="0" i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069079" y="4983480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231E5C"/>
                </a:solidFill>
                <a:latin typeface="Aptos"/>
              </a:defRPr>
            </a:pPr>
            <a:r>
              <a:t>Mid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5424" y="3360420"/>
            <a:ext cx="256032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12280" y="2103120"/>
            <a:ext cx="1005840" cy="2743200"/>
          </a:xfrm>
          <a:prstGeom prst="ellipse">
            <a:avLst/>
          </a:prstGeom>
          <a:solidFill>
            <a:srgbClr val="5B34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87768" y="2331720"/>
            <a:ext cx="54864" cy="2286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" b="0" i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720840" y="4983480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231E5C"/>
                </a:solidFill>
                <a:latin typeface="Aptos"/>
              </a:defRPr>
            </a:pPr>
            <a:r>
              <a:t>Senior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87184" y="3337560"/>
            <a:ext cx="256032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64040" y="1874519"/>
            <a:ext cx="1005840" cy="3200400"/>
          </a:xfrm>
          <a:prstGeom prst="ellipse">
            <a:avLst/>
          </a:prstGeom>
          <a:solidFill>
            <a:srgbClr val="5B34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9528" y="2103120"/>
            <a:ext cx="54864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00" b="0" i="0">
                <a:solidFill>
                  <a:srgbClr val="23232D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372600" y="4983480"/>
            <a:ext cx="1188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231E5C"/>
                </a:solidFill>
                <a:latin typeface="Aptos"/>
              </a:defRPr>
            </a:pPr>
            <a:r>
              <a:t>Executive Level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38944" y="3314700"/>
            <a:ext cx="256032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CAREER PROGRESSION &amp; STARTING SALARY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325880"/>
          <a:ext cx="67665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909560" y="1920240"/>
            <a:ext cx="310896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 i="0">
                <a:solidFill>
                  <a:srgbClr val="231E5C"/>
                </a:solidFill>
                <a:latin typeface="Aptos"/>
              </a:defRPr>
            </a:pPr>
            <a:r>
              <a:t>More experience</a:t>
            </a:r>
            <a:br/>
            <a:r>
              <a:t>and higher starting salary</a:t>
            </a:r>
            <a:br/>
            <a:r>
              <a:t>drive career progression.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OLS REGRESSION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234440"/>
            <a:ext cx="10332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417320"/>
            <a:ext cx="36576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Variable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1732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Coefficient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417320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P-value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332720" cy="502920"/>
          </a:xfrm>
          <a:prstGeom prst="rect">
            <a:avLst/>
          </a:prstGeom>
          <a:solidFill>
            <a:srgbClr val="231E5C"/>
          </a:solidFill>
          <a:ln>
            <a:solidFill>
              <a:srgbClr val="231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874519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Education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74519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0.218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874519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&lt;0.001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32887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32887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0.512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32887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&lt;0.001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91256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Technical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91256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0.173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91256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49624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849624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0.154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849624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07992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Networking &amp;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0799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0.121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07992"/>
            <a:ext cx="1463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0.015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All key factors are statistically significant.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80160" y="507492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64207" y="523036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048255" y="489204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32304" y="455371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816352" y="4215383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0" y="4370831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84448" y="403250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68496" y="3694176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52544" y="335584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36592" y="301752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120640" y="317296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504688" y="2834639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88736" y="249631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2783" y="215798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56831" y="231343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80160" y="540410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664207" y="5065776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048255" y="472744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32304" y="438912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16352" y="454456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00400" y="420624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84448" y="3867911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68496" y="352958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52544" y="3685031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36592" y="3346703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120640" y="3008376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504688" y="267004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888736" y="233172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2783" y="248716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56831" y="2148839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280160" y="523951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664207" y="4901183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048255" y="5056631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432304" y="471830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16352" y="4379976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200400" y="404164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584448" y="3703320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968496" y="385876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52544" y="3520439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736592" y="318211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120640" y="2843784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04688" y="2999232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88736" y="2660903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72783" y="2322576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56831" y="1984248"/>
            <a:ext cx="64008" cy="64008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1234440" y="1965960"/>
            <a:ext cx="5166360" cy="3200400"/>
          </a:xfrm>
          <a:prstGeom prst="line">
            <a:avLst/>
          </a:prstGeom>
          <a:ln w="25400">
            <a:solidFill>
              <a:srgbClr val="5B3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315200" y="1874519"/>
            <a:ext cx="34747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 i="0">
                <a:solidFill>
                  <a:srgbClr val="231E5C"/>
                </a:solidFill>
                <a:latin typeface="Aptos"/>
              </a:defRPr>
            </a:pPr>
            <a:r>
              <a:t>R² = 0.71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2697480"/>
            <a:ext cx="347472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 i="0">
                <a:solidFill>
                  <a:srgbClr val="23232D"/>
                </a:solidFill>
                <a:latin typeface="Aptos"/>
              </a:defRPr>
            </a:pPr>
            <a:r>
              <a:t>The model explains</a:t>
            </a:r>
            <a:br/>
            <a:r>
              <a:t>71% of the variation</a:t>
            </a:r>
            <a:br/>
            <a:r>
              <a:t>in career level.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160520"/>
            <a:ext cx="34747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 i="0">
                <a:solidFill>
                  <a:srgbClr val="231E5C"/>
                </a:solidFill>
                <a:latin typeface="Aptos"/>
              </a:defRPr>
            </a:pPr>
            <a:r>
              <a:t>A strong linear relationship</a:t>
            </a:r>
            <a:br/>
            <a:r>
              <a:t>exists between the factors</a:t>
            </a:r>
            <a:br/>
            <a:r>
              <a:t>and career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MACHINE LEARNING MODEL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Tree-based models perform best.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17320"/>
            <a:ext cx="9966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20" y="1600200"/>
            <a:ext cx="49377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6002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ptos"/>
              </a:defRPr>
            </a:pPr>
            <a:r>
              <a:t>R² Score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9966960" cy="502920"/>
          </a:xfrm>
          <a:prstGeom prst="rect">
            <a:avLst/>
          </a:prstGeom>
          <a:solidFill>
            <a:srgbClr val="231E5C"/>
          </a:solidFill>
          <a:ln>
            <a:solidFill>
              <a:srgbClr val="231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57400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057400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0.71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15768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15768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374136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Gradient Boosting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74136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32504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32504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690872"/>
            <a:ext cx="53035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Decision Tree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690872"/>
            <a:ext cx="1828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0.75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BEST PERFORMING MODELS (R² SCORE)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05840" y="1234440"/>
          <a:ext cx="101498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XGBoost is the best performing model by R².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DECISION TREE: ACTUAL VS PREDICTED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5074920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36192" y="5038344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83664" y="500176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31136" y="4526279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8608" y="4489704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6080" y="4453127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73552" y="3977639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21024" y="3941063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68496" y="346557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15968" y="3429000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3440" y="3392423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10912" y="291693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58384" y="2880359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05856" y="2843784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88720" y="518464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48072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883664" y="4672583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231136" y="4636007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578608" y="4599432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6080" y="4123943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73552" y="408736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21024" y="4050791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68496" y="3575304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15968" y="3538727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663440" y="3063239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10912" y="3026664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358384" y="2990087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705856" y="2514600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8720" y="529437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536192" y="5257800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83664" y="4782312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31136" y="474573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578608" y="427024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926080" y="4233671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273552" y="419709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21024" y="3721607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68496" y="3685032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315968" y="3648456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63440" y="317296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010912" y="3136391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358384" y="2660903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05856" y="2624328"/>
            <a:ext cx="68580" cy="68580"/>
          </a:xfrm>
          <a:prstGeom prst="ellipse">
            <a:avLst/>
          </a:prstGeom>
          <a:solidFill>
            <a:srgbClr val="5B3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 flipV="1">
            <a:off x="1143000" y="1965960"/>
            <a:ext cx="5029200" cy="3200400"/>
          </a:xfrm>
          <a:prstGeom prst="line">
            <a:avLst/>
          </a:prstGeom>
          <a:ln w="25400">
            <a:solidFill>
              <a:srgbClr val="268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315200" y="192024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400" b="1" i="0">
                <a:solidFill>
                  <a:srgbClr val="231E5C"/>
                </a:solidFill>
                <a:latin typeface="Aptos"/>
              </a:defRPr>
            </a:pPr>
            <a:r>
              <a:t>R² = 0.75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2743200"/>
            <a:ext cx="356616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 i="0">
                <a:solidFill>
                  <a:srgbClr val="23232D"/>
                </a:solidFill>
                <a:latin typeface="Aptos"/>
              </a:defRPr>
            </a:pPr>
            <a:r>
              <a:t>Good alignment</a:t>
            </a:r>
            <a:br/>
            <a:r>
              <a:t>between actual and</a:t>
            </a:r>
            <a:br/>
            <a:r>
              <a:t>predicted career levels.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WHAT DRIVES THE PREDICTION?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 b="0" i="0">
                <a:solidFill>
                  <a:srgbClr val="23232D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86200" y="1362456"/>
            <a:ext cx="6217920" cy="274320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87000" y="1325880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0.42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 b="0" i="0">
                <a:solidFill>
                  <a:srgbClr val="23232D"/>
                </a:solidFill>
                <a:latin typeface="Aptos"/>
              </a:defRPr>
            </a:pPr>
            <a:r>
              <a:t>Education Level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2185416"/>
            <a:ext cx="3108960" cy="274320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000" y="2148840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0.21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7180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 b="0" i="0">
                <a:solidFill>
                  <a:srgbClr val="23232D"/>
                </a:solidFill>
                <a:latin typeface="Aptos"/>
              </a:defRPr>
            </a:pPr>
            <a:r>
              <a:t>Technical Skills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3008376"/>
            <a:ext cx="2368731" cy="274320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0" y="2971800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0.16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 b="0" i="0">
                <a:solidFill>
                  <a:srgbClr val="23232D"/>
                </a:solidFill>
                <a:latin typeface="Aptos"/>
              </a:defRPr>
            </a:pPr>
            <a:r>
              <a:t>Continuous Learning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831336"/>
            <a:ext cx="1776548" cy="274320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87000" y="3794760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0.12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28346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1000" b="0" i="0">
                <a:solidFill>
                  <a:srgbClr val="23232D"/>
                </a:solidFill>
                <a:latin typeface="Aptos"/>
              </a:defRPr>
            </a:pPr>
            <a:r>
              <a:t>Networking &amp;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4654296"/>
            <a:ext cx="1332411" cy="274320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4617720"/>
            <a:ext cx="594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0.09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Experience is the most influential factor.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MODEL DIAGNOSTICS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Residuals are random, normally distributed and centered on zero.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Residuals vs Fitted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480060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19" y="447141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414223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39" y="381304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480060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447141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74519" y="414223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11680" y="381304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48839" y="480060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447141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23160" y="414223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0320" y="381304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697479" y="480060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34639" y="447141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71800" y="414223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108960" y="381304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246120" y="480060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383279" y="447141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520439" y="414223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0" y="381304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26280" y="123444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417320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Normal Q-Q Plot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0" y="475488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480" y="360273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0640" y="442569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57800" y="327355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94959" y="409651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532120" y="294436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69279" y="376732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06440" y="459028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943600" y="3438144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080759" y="4261104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17920" y="310896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55079" y="393192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92240" y="4754880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629400" y="360273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766560" y="4425696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903720" y="327355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40879" y="4096512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78040" y="294436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0" y="376732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452360" y="4590288"/>
            <a:ext cx="54864" cy="54864"/>
          </a:xfrm>
          <a:prstGeom prst="ellipse">
            <a:avLst/>
          </a:prstGeom>
          <a:solidFill>
            <a:srgbClr val="231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V="1">
            <a:off x="4846320" y="1965960"/>
            <a:ext cx="2560320" cy="2926080"/>
          </a:xfrm>
          <a:prstGeom prst="line">
            <a:avLst/>
          </a:prstGeom>
          <a:ln>
            <a:solidFill>
              <a:srgbClr val="5B3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8321040" y="1234440"/>
            <a:ext cx="3337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C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58200" y="1417320"/>
            <a:ext cx="3063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Residuals Distribution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732520" y="4489704"/>
            <a:ext cx="256032" cy="493776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079992" y="3995928"/>
            <a:ext cx="256032" cy="987552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27464" y="3337560"/>
            <a:ext cx="256032" cy="1645920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74936" y="2679192"/>
            <a:ext cx="256032" cy="2304288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122408" y="3337560"/>
            <a:ext cx="256032" cy="1645920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69880" y="3831336"/>
            <a:ext cx="256032" cy="1152144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17352" y="4325112"/>
            <a:ext cx="256032" cy="658368"/>
          </a:xfrm>
          <a:prstGeom prst="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Residuals are random, normally distributed and centered on zero.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1051560"/>
            <a:ext cx="685800" cy="68580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78992"/>
            <a:ext cx="6858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43000"/>
            <a:ext cx="950976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Education level and experience strongly impact success.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Technical skills and continuous learning make a difference.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Networking and communication are key drivers.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Marketing professionals can make better decisions with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The analysis turns data into evidence for 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SHOULD MARKETING PROFESSIONALS</a:t>
            </a:r>
            <a:br/>
            <a:r>
              <a:t>LEARN DATA ANALYTICS?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28800"/>
            <a:ext cx="1143000" cy="114300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6231"/>
            <a:ext cx="114300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08760"/>
            <a:ext cx="7955279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 i="0">
                <a:solidFill>
                  <a:srgbClr val="231E5C"/>
                </a:solidFill>
                <a:latin typeface="Aptos"/>
              </a:defRPr>
            </a:pPr>
            <a:r>
              <a:t>Yes, because it: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331720"/>
            <a:ext cx="7040880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3232D"/>
                </a:solidFill>
                <a:latin typeface="Aptos"/>
              </a:defRPr>
            </a:pPr>
            <a:r>
              <a:t>✓  Improves decision-making</a:t>
            </a:r>
          </a:p>
          <a:p>
            <a:pPr>
              <a:spcAft>
                <a:spcPts val="700"/>
              </a:spcAft>
              <a:defRPr sz="1600">
                <a:solidFill>
                  <a:srgbClr val="23232D"/>
                </a:solidFill>
                <a:latin typeface="Aptos"/>
              </a:defRPr>
            </a:pPr>
            <a:r>
              <a:t>✓  Increases career opportunities</a:t>
            </a:r>
          </a:p>
          <a:p>
            <a:pPr>
              <a:spcAft>
                <a:spcPts val="700"/>
              </a:spcAft>
              <a:defRPr sz="1600">
                <a:solidFill>
                  <a:srgbClr val="23232D"/>
                </a:solidFill>
                <a:latin typeface="Aptos"/>
              </a:defRPr>
            </a:pPr>
            <a:r>
              <a:t>✓  Drives measurable business impact</a:t>
            </a:r>
          </a:p>
          <a:p>
            <a:pPr>
              <a:spcAft>
                <a:spcPts val="700"/>
              </a:spcAft>
              <a:defRPr sz="1600">
                <a:solidFill>
                  <a:srgbClr val="23232D"/>
                </a:solidFill>
                <a:latin typeface="Aptos"/>
              </a:defRPr>
            </a:pPr>
            <a:r>
              <a:t>✓  Provides a competitive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57800"/>
            <a:ext cx="101498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 i="0">
                <a:solidFill>
                  <a:srgbClr val="231E5C"/>
                </a:solidFill>
                <a:latin typeface="Aptos"/>
              </a:defRPr>
            </a:pPr>
            <a:r>
              <a:t>Data turns marketing from intuition to strategy.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FROM MARKETING TO DATA ANALYTICS: MY JOURNEY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ory_photo_academi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097280"/>
            <a:ext cx="1874519" cy="2148840"/>
          </a:xfrm>
          <a:prstGeom prst="rect">
            <a:avLst/>
          </a:prstGeom>
        </p:spPr>
      </p:pic>
      <p:pic>
        <p:nvPicPr>
          <p:cNvPr id="5" name="Picture 4" descr="cover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474720"/>
            <a:ext cx="1874519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88920" y="1234440"/>
            <a:ext cx="3474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MY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64592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D"/>
                </a:solidFill>
                <a:latin typeface="Aptos"/>
              </a:defRPr>
            </a:pPr>
            <a:r>
              <a:t>✓  Degree &amp; Master's in Marketing</a:t>
            </a:r>
          </a:p>
          <a:p>
            <a:pPr>
              <a:spcAft>
                <a:spcPts val="700"/>
              </a:spcAft>
              <a:defRPr sz="1100">
                <a:solidFill>
                  <a:srgbClr val="23232D"/>
                </a:solidFill>
                <a:latin typeface="Aptos"/>
              </a:defRPr>
            </a:pPr>
            <a:r>
              <a:t>✓  Strong communication &amp; leadership</a:t>
            </a:r>
          </a:p>
          <a:p>
            <a:pPr>
              <a:spcAft>
                <a:spcPts val="700"/>
              </a:spcAft>
              <a:defRPr sz="1100">
                <a:solidFill>
                  <a:srgbClr val="23232D"/>
                </a:solidFill>
                <a:latin typeface="Aptos"/>
              </a:defRPr>
            </a:pPr>
            <a:r>
              <a:t>✓  Teaching and teamwork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234440"/>
            <a:ext cx="42062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31E5C"/>
                </a:solidFill>
                <a:latin typeface="Aptos"/>
              </a:defRPr>
            </a:pPr>
            <a:r>
              <a:t>MY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2062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3232D"/>
                </a:solidFill>
                <a:latin typeface="Aptos"/>
              </a:defRPr>
            </a:pPr>
            <a:r>
              <a:t>✓  Jiu-Jitsu athlete, instructor and self-defense workshops</a:t>
            </a:r>
          </a:p>
          <a:p>
            <a:pPr>
              <a:spcAft>
                <a:spcPts val="700"/>
              </a:spcAft>
              <a:defRPr sz="1100">
                <a:solidFill>
                  <a:srgbClr val="23232D"/>
                </a:solidFill>
                <a:latin typeface="Aptos"/>
              </a:defRPr>
            </a:pPr>
            <a:r>
              <a:t>✓  Discipline, strategy and continuous 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343400"/>
            <a:ext cx="8046720" cy="1143000"/>
          </a:xfrm>
          <a:prstGeom prst="roundRect">
            <a:avLst/>
          </a:prstGeom>
          <a:solidFill>
            <a:srgbClr val="F6F4FC"/>
          </a:solidFill>
          <a:ln>
            <a:solidFill>
              <a:srgbClr val="DC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4526280"/>
            <a:ext cx="76809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5B3499"/>
                </a:solidFill>
                <a:latin typeface="Aptos"/>
              </a:defRPr>
            </a:pPr>
            <a:r>
              <a:t>WHY DATA ANALYTICS?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4892040"/>
            <a:ext cx="7589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0" i="0">
                <a:solidFill>
                  <a:srgbClr val="23232D"/>
                </a:solidFill>
                <a:latin typeface="Aptos"/>
              </a:defRPr>
            </a:pPr>
            <a:r>
              <a:t>To combine my marketing knowledge and human understanding with data to generate insights that drive impact.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1024128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“Data Analytics empowers marketing professionals to understand people better, make smarter decisions and create real impact in the business.”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154680"/>
            <a:ext cx="987552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 i="0">
                <a:solidFill>
                  <a:srgbClr val="5B3499"/>
                </a:solidFill>
                <a:latin typeface="Aptos"/>
              </a:defRPr>
            </a:pPr>
            <a:r>
              <a:t>The future belongs to those who know how to combine data, strategy and storytelling.</a:t>
            </a:r>
          </a:p>
        </p:txBody>
      </p:sp>
      <p:sp>
        <p:nvSpPr>
          <p:cNvPr id="6" name="Oval 5"/>
          <p:cNvSpPr/>
          <p:nvPr/>
        </p:nvSpPr>
        <p:spPr>
          <a:xfrm>
            <a:off x="9875520" y="4663440"/>
            <a:ext cx="777240" cy="77724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0" y="4690872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↗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SQL VALIDATION &amp; EXPLORATORY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554480"/>
            <a:ext cx="1097280" cy="109728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1912"/>
            <a:ext cx="109728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6304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Validated and explored the data using SQL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Examined distributions and relationships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Ensured data quality and consistency</a:t>
            </a:r>
          </a:p>
          <a:p>
            <a:pPr>
              <a:spcAft>
                <a:spcPts val="700"/>
              </a:spcAft>
              <a:defRPr sz="1500">
                <a:solidFill>
                  <a:srgbClr val="23232D"/>
                </a:solidFill>
                <a:latin typeface="Aptos"/>
              </a:defRPr>
            </a:pPr>
            <a:r>
              <a:t>✓  Supported insights with solid queries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SQL was essential for understanding the data deeply.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END-TO-END DATA ANALYTICS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A full cycle from question to business impact.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926080"/>
            <a:ext cx="731520" cy="7315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731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40"/>
            <a:ext cx="1371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Business</a:t>
            </a:r>
            <a:br/>
            <a:r>
              <a:t>Question</a:t>
            </a:r>
          </a:p>
        </p:txBody>
      </p:sp>
      <p:sp>
        <p:nvSpPr>
          <p:cNvPr id="8" name="Oval 7"/>
          <p:cNvSpPr/>
          <p:nvPr/>
        </p:nvSpPr>
        <p:spPr>
          <a:xfrm>
            <a:off x="2926080" y="1554480"/>
            <a:ext cx="731520" cy="7315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581912"/>
            <a:ext cx="731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377440"/>
            <a:ext cx="1371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4754880" y="1554480"/>
            <a:ext cx="731520" cy="7315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1581912"/>
            <a:ext cx="731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377440"/>
            <a:ext cx="1371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Data</a:t>
            </a:r>
            <a:br/>
            <a:r>
              <a:t>Preparation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629400" y="1554480"/>
            <a:ext cx="731520" cy="7315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581912"/>
            <a:ext cx="731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377440"/>
            <a:ext cx="1371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Exploratory</a:t>
            </a:r>
            <a:br/>
            <a:r>
              <a:t>Analysis</a:t>
            </a:r>
          </a:p>
        </p:txBody>
      </p:sp>
      <p:sp>
        <p:nvSpPr>
          <p:cNvPr id="17" name="Oval 16"/>
          <p:cNvSpPr/>
          <p:nvPr/>
        </p:nvSpPr>
        <p:spPr>
          <a:xfrm>
            <a:off x="8549640" y="2926080"/>
            <a:ext cx="731520" cy="7315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2953512"/>
            <a:ext cx="7315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749040"/>
            <a:ext cx="137160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Insights &amp;</a:t>
            </a:r>
            <a:br/>
            <a:r>
              <a:t>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37560"/>
            <a:ext cx="237744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 i="0">
                <a:solidFill>
                  <a:srgbClr val="26807D"/>
                </a:solidFill>
                <a:latin typeface="Aptos"/>
              </a:defRPr>
            </a:pPr>
            <a:r>
              <a:t>ITERATE</a:t>
            </a:r>
            <a:br/>
            <a:r>
              <a:t>&amp; IMPROVE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327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A full cycle from question to business impact.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The right tools for the right insights.</a:t>
            </a:r>
          </a:p>
        </p:txBody>
      </p:sp>
      <p:sp>
        <p:nvSpPr>
          <p:cNvPr id="5" name="Oval 4"/>
          <p:cNvSpPr/>
          <p:nvPr/>
        </p:nvSpPr>
        <p:spPr>
          <a:xfrm>
            <a:off x="1188720" y="1828800"/>
            <a:ext cx="777240" cy="77724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8" name="Oval 7"/>
          <p:cNvSpPr/>
          <p:nvPr/>
        </p:nvSpPr>
        <p:spPr>
          <a:xfrm>
            <a:off x="3017520" y="1828800"/>
            <a:ext cx="777240" cy="777240"/>
          </a:xfrm>
          <a:prstGeom prst="ellipse">
            <a:avLst/>
          </a:prstGeom>
          <a:solidFill>
            <a:srgbClr val="26807D"/>
          </a:solidFill>
          <a:ln>
            <a:solidFill>
              <a:srgbClr val="26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2697479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1828800"/>
            <a:ext cx="777240" cy="77724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526280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1828800"/>
            <a:ext cx="777240" cy="77724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46520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17" name="Oval 16"/>
          <p:cNvSpPr/>
          <p:nvPr/>
        </p:nvSpPr>
        <p:spPr>
          <a:xfrm>
            <a:off x="8595360" y="1828800"/>
            <a:ext cx="777240" cy="777240"/>
          </a:xfrm>
          <a:prstGeom prst="ellipse">
            <a:avLst/>
          </a:prstGeom>
          <a:solidFill>
            <a:srgbClr val="26807D"/>
          </a:solidFill>
          <a:ln>
            <a:solidFill>
              <a:srgbClr val="2680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275320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Tableau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0" y="1828800"/>
            <a:ext cx="777240" cy="77724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856231"/>
            <a:ext cx="777240" cy="73151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9738360" y="2788920"/>
            <a:ext cx="14173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 i="0">
                <a:solidFill>
                  <a:srgbClr val="231E5C"/>
                </a:solidFill>
                <a:latin typeface="Aptos"/>
              </a:defRPr>
            </a:pPr>
            <a:r>
              <a:t>BeautifulSoup</a:t>
            </a:r>
            <a:br/>
            <a:r>
              <a:t>&amp; APIs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PRACTICAL 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Small changes today, big results tomorrow.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94360" cy="59436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07592"/>
            <a:ext cx="8961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23232D"/>
                </a:solidFill>
                <a:latin typeface="Aptos"/>
              </a:defRPr>
            </a:pPr>
            <a:r>
              <a:t>Invest in data literacy for marketing teams.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77439"/>
            <a:ext cx="594360" cy="59436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04871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359151"/>
            <a:ext cx="8961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23232D"/>
                </a:solidFill>
                <a:latin typeface="Aptos"/>
              </a:defRPr>
            </a:pPr>
            <a:r>
              <a:t>Use data to personalize campaigns.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29000"/>
            <a:ext cx="594360" cy="59436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56432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410712"/>
            <a:ext cx="8961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23232D"/>
                </a:solidFill>
                <a:latin typeface="Aptos"/>
              </a:defRPr>
            </a:pPr>
            <a:r>
              <a:t>Measure, test and optimize continuously.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80559"/>
            <a:ext cx="594360" cy="59436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07992"/>
            <a:ext cx="5943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462272"/>
            <a:ext cx="89611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500" b="1" i="0">
                <a:solidFill>
                  <a:srgbClr val="23232D"/>
                </a:solidFill>
                <a:latin typeface="Aptos"/>
              </a:defRPr>
            </a:pPr>
            <a:r>
              <a:t>Make data-driven decisions consistently.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 i="0">
                <a:solidFill>
                  <a:srgbClr val="231E5C"/>
                </a:solidFill>
                <a:latin typeface="Aptos"/>
              </a:defRPr>
            </a:pPr>
            <a:r>
              <a:t>REFERENCES &amp; 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6327648"/>
            <a:ext cx="11155680" cy="310896"/>
          </a:xfrm>
          <a:prstGeom prst="roundRect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881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Aptos"/>
              </a:defRPr>
            </a:pPr>
            <a:r>
              <a:t>Data from multiple reliable sources.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1188720"/>
            <a:ext cx="502920" cy="502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1615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18872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 i="0">
                <a:solidFill>
                  <a:srgbClr val="23232D"/>
                </a:solidFill>
                <a:latin typeface="Aptos"/>
              </a:defRPr>
            </a:pPr>
            <a:r>
              <a:t>Web scraping (BeautifulSoup)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11680"/>
            <a:ext cx="502920" cy="502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 i="0">
                <a:solidFill>
                  <a:srgbClr val="23232D"/>
                </a:solidFill>
                <a:latin typeface="Aptos"/>
              </a:defRPr>
            </a:pPr>
            <a:r>
              <a:t>APIs (JSONPlaceholder)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34640"/>
            <a:ext cx="502920" cy="502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6207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3464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 i="0">
                <a:solidFill>
                  <a:srgbClr val="23232D"/>
                </a:solidFill>
                <a:latin typeface="Aptos"/>
              </a:defRPr>
            </a:pPr>
            <a:r>
              <a:t>Kaggle data: Marketing Campaign Performance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3657600"/>
            <a:ext cx="502920" cy="502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65760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 i="0">
                <a:solidFill>
                  <a:srgbClr val="23232D"/>
                </a:solidFill>
                <a:latin typeface="Aptos"/>
              </a:defRPr>
            </a:pPr>
            <a:r>
              <a:t>SQL Queries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4480560"/>
            <a:ext cx="502920" cy="502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07992"/>
            <a:ext cx="5029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480560"/>
            <a:ext cx="8961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 i="0">
                <a:solidFill>
                  <a:srgbClr val="23232D"/>
                </a:solidFill>
                <a:latin typeface="Aptos"/>
              </a:defRPr>
            </a:pPr>
            <a:r>
              <a:t>Course Materials – Ironhack Bootcamp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000" b="1" i="0">
                <a:solidFill>
                  <a:srgbClr val="231E5C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Oval 2"/>
          <p:cNvSpPr/>
          <p:nvPr/>
        </p:nvSpPr>
        <p:spPr>
          <a:xfrm>
            <a:off x="5257800" y="1828800"/>
            <a:ext cx="1645920" cy="1645920"/>
          </a:xfrm>
          <a:prstGeom prst="ellipse">
            <a:avLst/>
          </a:prstGeom>
          <a:solidFill>
            <a:srgbClr val="5B3499"/>
          </a:solidFill>
          <a:ln>
            <a:solidFill>
              <a:srgbClr val="5B3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257800" y="1856231"/>
            <a:ext cx="1645920" cy="1600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ptos"/>
              </a:defRPr>
            </a:pPr>
            <a:r>
              <a:t>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3794760"/>
            <a:ext cx="43891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 i="0">
                <a:solidFill>
                  <a:srgbClr val="231E5C"/>
                </a:solidFill>
                <a:latin typeface="Aptos"/>
              </a:defRPr>
            </a:pPr>
            <a: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892040"/>
            <a:ext cx="10149840" cy="18288"/>
          </a:xfrm>
          <a:prstGeom prst="rect">
            <a:avLst/>
          </a:prstGeom>
          <a:solidFill>
            <a:srgbClr val="DCDCE1"/>
          </a:solidFill>
          <a:ln>
            <a:solidFill>
              <a:srgbClr val="DC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0" y="5257800"/>
            <a:ext cx="658368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 i="0">
                <a:solidFill>
                  <a:srgbClr val="231E5C"/>
                </a:solidFill>
                <a:latin typeface="Aptos"/>
              </a:defRPr>
            </a:pPr>
            <a:r>
              <a:t>Teresa Mendes Coelho   •   Let's connect!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10607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800" b="0" i="0">
                <a:solidFill>
                  <a:srgbClr val="5F5F69"/>
                </a:solidFill>
                <a:latin typeface="Aptos"/>
              </a:defRPr>
            </a:pPr>
            <a:r>
              <a:t>Ironhack Data Analytics Bootcamp • Final Project •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
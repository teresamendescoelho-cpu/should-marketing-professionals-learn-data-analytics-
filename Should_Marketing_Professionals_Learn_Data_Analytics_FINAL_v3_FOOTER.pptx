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C49557-4450-4DDA-B174-2A7CA6B3B78E}" v="5" dt="2026-08-14T02:32:46.5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resa Mendes Coelho" userId="1d08d95ec9e57526" providerId="LiveId" clId="{BAD1F456-105E-44D2-845E-0AAEBDC85907}"/>
    <pc:docChg chg="custSel addSld modSld">
      <pc:chgData name="Teresa Mendes Coelho" userId="1d08d95ec9e57526" providerId="LiveId" clId="{BAD1F456-105E-44D2-845E-0AAEBDC85907}" dt="2026-08-14T02:33:32.127" v="57" actId="1076"/>
      <pc:docMkLst>
        <pc:docMk/>
      </pc:docMkLst>
      <pc:sldChg chg="addSp modSp mod">
        <pc:chgData name="Teresa Mendes Coelho" userId="1d08d95ec9e57526" providerId="LiveId" clId="{BAD1F456-105E-44D2-845E-0AAEBDC85907}" dt="2026-08-14T02:16:21.924" v="9" actId="1076"/>
        <pc:sldMkLst>
          <pc:docMk/>
          <pc:sldMk cId="0" sldId="256"/>
        </pc:sldMkLst>
        <pc:spChg chg="mod">
          <ac:chgData name="Teresa Mendes Coelho" userId="1d08d95ec9e57526" providerId="LiveId" clId="{BAD1F456-105E-44D2-845E-0AAEBDC85907}" dt="2026-08-14T02:16:01.970" v="4" actId="122"/>
          <ac:spMkLst>
            <pc:docMk/>
            <pc:sldMk cId="0" sldId="256"/>
            <ac:spMk id="5" creationId="{00000000-0000-0000-0000-000000000000}"/>
          </ac:spMkLst>
        </pc:spChg>
        <pc:picChg chg="add mod">
          <ac:chgData name="Teresa Mendes Coelho" userId="1d08d95ec9e57526" providerId="LiveId" clId="{BAD1F456-105E-44D2-845E-0AAEBDC85907}" dt="2026-08-14T02:16:21.924" v="9" actId="1076"/>
          <ac:picMkLst>
            <pc:docMk/>
            <pc:sldMk cId="0" sldId="256"/>
            <ac:picMk id="11" creationId="{DD28951A-6195-7FDA-CB68-BE1B6061278C}"/>
          </ac:picMkLst>
        </pc:picChg>
      </pc:sldChg>
      <pc:sldChg chg="addSp delSp modSp mod">
        <pc:chgData name="Teresa Mendes Coelho" userId="1d08d95ec9e57526" providerId="LiveId" clId="{BAD1F456-105E-44D2-845E-0AAEBDC85907}" dt="2026-08-14T02:33:32.127" v="57" actId="1076"/>
        <pc:sldMkLst>
          <pc:docMk/>
          <pc:sldMk cId="0" sldId="257"/>
        </pc:sldMkLst>
        <pc:spChg chg="mod">
          <ac:chgData name="Teresa Mendes Coelho" userId="1d08d95ec9e57526" providerId="LiveId" clId="{BAD1F456-105E-44D2-845E-0AAEBDC85907}" dt="2026-08-14T02:32:46.535" v="55" actId="164"/>
          <ac:spMkLst>
            <pc:docMk/>
            <pc:sldMk cId="0" sldId="257"/>
            <ac:spMk id="2" creationId="{00000000-0000-0000-0000-000000000000}"/>
          </ac:spMkLst>
        </pc:spChg>
        <pc:spChg chg="del">
          <ac:chgData name="Teresa Mendes Coelho" userId="1d08d95ec9e57526" providerId="LiveId" clId="{BAD1F456-105E-44D2-845E-0AAEBDC85907}" dt="2026-08-14T02:16:41.373" v="14" actId="478"/>
          <ac:spMkLst>
            <pc:docMk/>
            <pc:sldMk cId="0" sldId="257"/>
            <ac:spMk id="3" creationId="{00000000-0000-0000-0000-000000000000}"/>
          </ac:spMkLst>
        </pc:spChg>
        <pc:spChg chg="del">
          <ac:chgData name="Teresa Mendes Coelho" userId="1d08d95ec9e57526" providerId="LiveId" clId="{BAD1F456-105E-44D2-845E-0AAEBDC85907}" dt="2026-08-14T02:16:38.997" v="13" actId="478"/>
          <ac:spMkLst>
            <pc:docMk/>
            <pc:sldMk cId="0" sldId="257"/>
            <ac:spMk id="4" creationId="{00000000-0000-0000-0000-000000000000}"/>
          </ac:spMkLst>
        </pc:spChg>
        <pc:spChg chg="del">
          <ac:chgData name="Teresa Mendes Coelho" userId="1d08d95ec9e57526" providerId="LiveId" clId="{BAD1F456-105E-44D2-845E-0AAEBDC85907}" dt="2026-08-14T02:16:35.285" v="12" actId="478"/>
          <ac:spMkLst>
            <pc:docMk/>
            <pc:sldMk cId="0" sldId="257"/>
            <ac:spMk id="5" creationId="{00000000-0000-0000-0000-000000000000}"/>
          </ac:spMkLst>
        </pc:spChg>
        <pc:spChg chg="del">
          <ac:chgData name="Teresa Mendes Coelho" userId="1d08d95ec9e57526" providerId="LiveId" clId="{BAD1F456-105E-44D2-845E-0AAEBDC85907}" dt="2026-08-14T02:16:33.468" v="11" actId="478"/>
          <ac:spMkLst>
            <pc:docMk/>
            <pc:sldMk cId="0" sldId="257"/>
            <ac:spMk id="6" creationId="{00000000-0000-0000-0000-000000000000}"/>
          </ac:spMkLst>
        </pc:spChg>
        <pc:spChg chg="del">
          <ac:chgData name="Teresa Mendes Coelho" userId="1d08d95ec9e57526" providerId="LiveId" clId="{BAD1F456-105E-44D2-845E-0AAEBDC85907}" dt="2026-08-14T02:16:43.172" v="15" actId="478"/>
          <ac:spMkLst>
            <pc:docMk/>
            <pc:sldMk cId="0" sldId="257"/>
            <ac:spMk id="7" creationId="{00000000-0000-0000-0000-000000000000}"/>
          </ac:spMkLst>
        </pc:spChg>
        <pc:grpChg chg="add mod">
          <ac:chgData name="Teresa Mendes Coelho" userId="1d08d95ec9e57526" providerId="LiveId" clId="{BAD1F456-105E-44D2-845E-0AAEBDC85907}" dt="2026-08-14T02:33:32.127" v="57" actId="1076"/>
          <ac:grpSpMkLst>
            <pc:docMk/>
            <pc:sldMk cId="0" sldId="257"/>
            <ac:grpSpMk id="6" creationId="{C7E13426-9C50-4963-A9E3-DE7DDC07F871}"/>
          </ac:grpSpMkLst>
        </pc:grpChg>
        <pc:grpChg chg="add mod">
          <ac:chgData name="Teresa Mendes Coelho" userId="1d08d95ec9e57526" providerId="LiveId" clId="{BAD1F456-105E-44D2-845E-0AAEBDC85907}" dt="2026-08-14T02:32:46.535" v="55" actId="164"/>
          <ac:grpSpMkLst>
            <pc:docMk/>
            <pc:sldMk cId="0" sldId="257"/>
            <ac:grpSpMk id="14" creationId="{8AF3E3CD-D624-5FAB-DC05-748A9AB97291}"/>
          </ac:grpSpMkLst>
        </pc:grpChg>
        <pc:picChg chg="add mod modCrop">
          <ac:chgData name="Teresa Mendes Coelho" userId="1d08d95ec9e57526" providerId="LiveId" clId="{BAD1F456-105E-44D2-845E-0AAEBDC85907}" dt="2026-08-14T02:29:49.625" v="34" actId="164"/>
          <ac:picMkLst>
            <pc:docMk/>
            <pc:sldMk cId="0" sldId="257"/>
            <ac:picMk id="3" creationId="{8AC958EC-4682-E011-08C4-CAB955465B70}"/>
          </ac:picMkLst>
        </pc:picChg>
        <pc:picChg chg="add mod modCrop">
          <ac:chgData name="Teresa Mendes Coelho" userId="1d08d95ec9e57526" providerId="LiveId" clId="{BAD1F456-105E-44D2-845E-0AAEBDC85907}" dt="2026-08-14T02:29:49.625" v="34" actId="164"/>
          <ac:picMkLst>
            <pc:docMk/>
            <pc:sldMk cId="0" sldId="257"/>
            <ac:picMk id="5" creationId="{F0BAE2C9-38DD-FA2B-0F63-71EA2750B032}"/>
          </ac:picMkLst>
        </pc:picChg>
        <pc:picChg chg="add mod modCrop">
          <ac:chgData name="Teresa Mendes Coelho" userId="1d08d95ec9e57526" providerId="LiveId" clId="{BAD1F456-105E-44D2-845E-0AAEBDC85907}" dt="2026-08-14T02:33:32.127" v="57" actId="1076"/>
          <ac:picMkLst>
            <pc:docMk/>
            <pc:sldMk cId="0" sldId="257"/>
            <ac:picMk id="13" creationId="{C6A44937-1E74-173A-F656-276B88EB8A8C}"/>
          </ac:picMkLst>
        </pc:picChg>
      </pc:sldChg>
      <pc:sldChg chg="add">
        <pc:chgData name="Teresa Mendes Coelho" userId="1d08d95ec9e57526" providerId="LiveId" clId="{BAD1F456-105E-44D2-845E-0AAEBDC85907}" dt="2026-08-14T02:16:28.333" v="10" actId="2890"/>
        <pc:sldMkLst>
          <pc:docMk/>
          <pc:sldMk cId="1950562683" sldId="27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5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Should Marketing Professionals</a:t>
            </a:r>
          </a:p>
          <a:p>
            <a:pPr>
              <a:defRPr sz="4300" b="1">
                <a:solidFill>
                  <a:srgbClr val="FFFFFF"/>
                </a:solidFill>
              </a:defRPr>
            </a:pPr>
            <a:r>
              <a:t>Learn Data Analytics?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971800"/>
            <a:ext cx="54979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C8D7E4"/>
                </a:solidFill>
              </a:defRPr>
            </a:pPr>
            <a:r>
              <a:rPr dirty="0"/>
              <a:t>A Machine Learning Analysis of Education, Technical Skills and Career Success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9" name="Hexagon 8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1</a:t>
            </a:r>
          </a:p>
        </p:txBody>
      </p:sp>
      <p:pic>
        <p:nvPicPr>
          <p:cNvPr id="11" name="Imagem 10" descr="Customer Experience In The Advertising Industry Statistics 2026">
            <a:extLst>
              <a:ext uri="{FF2B5EF4-FFF2-40B4-BE49-F238E27FC236}">
                <a16:creationId xmlns:a16="http://schemas.microsoft.com/office/drawing/2014/main" id="{DD28951A-6195-7FDA-CB68-BE1B60612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733" y="1117864"/>
            <a:ext cx="5497915" cy="38100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1" name="Hexagon 10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2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C7E13426-9C50-4963-A9E3-DE7DDC07F871}"/>
              </a:ext>
            </a:extLst>
          </p:cNvPr>
          <p:cNvGrpSpPr/>
          <p:nvPr/>
        </p:nvGrpSpPr>
        <p:grpSpPr>
          <a:xfrm>
            <a:off x="968656" y="209312"/>
            <a:ext cx="9856766" cy="6069044"/>
            <a:chOff x="827276" y="-26387"/>
            <a:chExt cx="10206207" cy="6284203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8AC958EC-4682-E011-08C4-CAB955465B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7701"/>
            <a:stretch>
              <a:fillRect/>
            </a:stretch>
          </p:blipFill>
          <p:spPr>
            <a:xfrm>
              <a:off x="827276" y="-26387"/>
              <a:ext cx="10206207" cy="6284203"/>
            </a:xfrm>
            <a:prstGeom prst="rect">
              <a:avLst/>
            </a:prstGeom>
          </p:spPr>
        </p:pic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F0BAE2C9-38DD-FA2B-0F63-71EA2750B0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293" t="12767" r="201" b="11078"/>
            <a:stretch>
              <a:fillRect/>
            </a:stretch>
          </p:blipFill>
          <p:spPr>
            <a:xfrm>
              <a:off x="973667" y="188772"/>
              <a:ext cx="2319866" cy="2630628"/>
            </a:xfrm>
            <a:prstGeom prst="rect">
              <a:avLst/>
            </a:prstGeom>
          </p:spPr>
        </p:pic>
      </p:grpSp>
      <p:pic>
        <p:nvPicPr>
          <p:cNvPr id="13" name="Imagem 12">
            <a:extLst>
              <a:ext uri="{FF2B5EF4-FFF2-40B4-BE49-F238E27FC236}">
                <a16:creationId xmlns:a16="http://schemas.microsoft.com/office/drawing/2014/main" id="{C6A44937-1E74-173A-F656-276B88EB8A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45" t="20985" r="9088" b="21768"/>
          <a:stretch>
            <a:fillRect/>
          </a:stretch>
        </p:blipFill>
        <p:spPr>
          <a:xfrm>
            <a:off x="1115047" y="3329094"/>
            <a:ext cx="2240438" cy="2540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BFBDD-CC96-DAF9-2051-5149E27CD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007870-F519-8BDF-66EC-330179B1332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7FAC1D-C9E6-72B1-96E4-7061E442FDDF}"/>
              </a:ext>
            </a:extLst>
          </p:cNvPr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1"/>
                </a:solidFill>
                <a:latin typeface="Aptos Display"/>
              </a:defRPr>
            </a:pPr>
            <a:r>
              <a:t>The Business Question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84F356-C79F-4E28-FAC7-72B0EE5BB5D8}"/>
              </a:ext>
            </a:extLst>
          </p:cNvPr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From a career question to a data-driven analysis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D3043A7-1AD1-1E76-75D1-0262404C6531}"/>
              </a:ext>
            </a:extLst>
          </p:cNvPr>
          <p:cNvSpPr/>
          <p:nvPr/>
        </p:nvSpPr>
        <p:spPr>
          <a:xfrm>
            <a:off x="548640" y="1143000"/>
            <a:ext cx="1874519" cy="320040"/>
          </a:xfrm>
          <a:prstGeom prst="roundRect">
            <a:avLst/>
          </a:prstGeom>
          <a:solidFill>
            <a:srgbClr val="3A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BUSINESS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02DEFC-8872-9498-08FC-3FA79AB9B64D}"/>
              </a:ext>
            </a:extLst>
          </p:cNvPr>
          <p:cNvSpPr txBox="1"/>
          <p:nvPr/>
        </p:nvSpPr>
        <p:spPr>
          <a:xfrm>
            <a:off x="731520" y="1645920"/>
            <a:ext cx="6492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62D34"/>
                </a:solidFill>
                <a:latin typeface="Aptos"/>
              </a:defRPr>
            </a:pPr>
            <a:r>
              <a:t>• Marketing roles are increasingly data-driven.</a:t>
            </a:r>
          </a:p>
          <a:p>
            <a:pPr>
              <a:spcAft>
                <a:spcPts val="900"/>
              </a:spcAft>
              <a:defRPr sz="2000">
                <a:solidFill>
                  <a:srgbClr val="262D34"/>
                </a:solidFill>
                <a:latin typeface="Aptos"/>
              </a:defRPr>
            </a:pPr>
            <a:r>
              <a:t>• Professionals are expected to combine marketing knowledge with analytical and technical capabilities.</a:t>
            </a:r>
          </a:p>
          <a:p>
            <a:pPr>
              <a:spcAft>
                <a:spcPts val="900"/>
              </a:spcAft>
              <a:defRPr sz="2000">
                <a:solidFill>
                  <a:srgbClr val="262D34"/>
                </a:solidFill>
                <a:latin typeface="Aptos"/>
              </a:defRPr>
            </a:pPr>
            <a:r>
              <a:t>• We investigate whether education, professional experience and measurable skills are associated with career outcomes.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C4634A2-14E8-C4EE-6544-862CEA91270A}"/>
              </a:ext>
            </a:extLst>
          </p:cNvPr>
          <p:cNvSpPr/>
          <p:nvPr/>
        </p:nvSpPr>
        <p:spPr>
          <a:xfrm>
            <a:off x="7589520" y="1645920"/>
            <a:ext cx="3840480" cy="2834640"/>
          </a:xfrm>
          <a:prstGeom prst="roundRect">
            <a:avLst/>
          </a:prstGeom>
          <a:solidFill>
            <a:srgbClr val="E7F0F8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A74A6"/>
                </a:solidFill>
              </a:defRPr>
            </a:pPr>
            <a:r>
              <a:t>Research Question</a:t>
            </a:r>
          </a:p>
          <a:p>
            <a:pPr algn="ctr">
              <a:defRPr sz="2100" b="1">
                <a:solidFill>
                  <a:srgbClr val="121F31"/>
                </a:solidFill>
              </a:defRPr>
            </a:pPr>
            <a:r>
              <a:t>Can professional characteristics help explain and predict Starting Salary?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3ED76F-3378-8D13-D359-4F9C031E0A24}"/>
              </a:ext>
            </a:extLst>
          </p:cNvPr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F0CA4F-6DF9-9ACC-6BFE-7055E7095538}"/>
              </a:ext>
            </a:extLst>
          </p:cNvPr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59FAF0-0C39-B81D-7A22-25AC6E0BCC95}"/>
              </a:ext>
            </a:extLst>
          </p:cNvPr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72CE6EC6-AC6F-B054-02F2-C48732D760CF}"/>
              </a:ext>
            </a:extLst>
          </p:cNvPr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CD359C-CC3B-7AAC-76C5-AE91F82E0444}"/>
              </a:ext>
            </a:extLst>
          </p:cNvPr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50562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1"/>
                </a:solidFill>
                <a:latin typeface="Aptos Display"/>
              </a:defRPr>
            </a:pPr>
            <a:r>
              <a:t>Data &amp; Analytical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2011680" cy="1097280"/>
          </a:xfrm>
          <a:prstGeom prst="roundRect">
            <a:avLst/>
          </a:prstGeom>
          <a:solidFill>
            <a:srgbClr val="E7F0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21F31"/>
                </a:solidFill>
                <a:latin typeface="Aptos Display"/>
              </a:defRPr>
            </a:pPr>
            <a:r>
              <a:t>44</a:t>
            </a:r>
          </a:p>
          <a:p>
            <a:pPr algn="ctr">
              <a:defRPr sz="1000">
                <a:solidFill>
                  <a:srgbClr val="69737D"/>
                </a:solidFill>
                <a:latin typeface="Aptos"/>
              </a:defRPr>
            </a:pPr>
            <a:r>
              <a:t>observations in modelling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234440"/>
            <a:ext cx="2011680" cy="1097280"/>
          </a:xfrm>
          <a:prstGeom prst="roundRect">
            <a:avLst/>
          </a:prstGeom>
          <a:solidFill>
            <a:srgbClr val="E7F0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21F31"/>
                </a:solidFill>
                <a:latin typeface="Aptos Display"/>
              </a:defRPr>
            </a:pPr>
            <a:r>
              <a:t>1</a:t>
            </a:r>
          </a:p>
          <a:p>
            <a:pPr algn="ctr">
              <a:defRPr sz="1000">
                <a:solidFill>
                  <a:srgbClr val="69737D"/>
                </a:solidFill>
                <a:latin typeface="Aptos"/>
              </a:defRPr>
            </a:pPr>
            <a:r>
              <a:t>main target: Starting Salary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234440"/>
            <a:ext cx="2011680" cy="1097280"/>
          </a:xfrm>
          <a:prstGeom prst="roundRect">
            <a:avLst/>
          </a:prstGeom>
          <a:solidFill>
            <a:srgbClr val="E7F0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21F31"/>
                </a:solidFill>
                <a:latin typeface="Aptos Display"/>
              </a:defRPr>
            </a:pPr>
            <a:r>
              <a:t>6</a:t>
            </a:r>
          </a:p>
          <a:p>
            <a:pPr algn="ctr">
              <a:defRPr sz="1000">
                <a:solidFill>
                  <a:srgbClr val="69737D"/>
                </a:solidFill>
                <a:latin typeface="Aptos"/>
              </a:defRPr>
            </a:pPr>
            <a:r>
              <a:t>regression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234440"/>
            <a:ext cx="2011680" cy="1097280"/>
          </a:xfrm>
          <a:prstGeom prst="roundRect">
            <a:avLst/>
          </a:prstGeom>
          <a:solidFill>
            <a:srgbClr val="E7F0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21F31"/>
                </a:solidFill>
                <a:latin typeface="Aptos Display"/>
              </a:defRPr>
            </a:pPr>
            <a:r>
              <a:t>2</a:t>
            </a:r>
          </a:p>
          <a:p>
            <a:pPr algn="ctr">
              <a:defRPr sz="1000">
                <a:solidFill>
                  <a:srgbClr val="69737D"/>
                </a:solidFill>
                <a:latin typeface="Aptos"/>
              </a:defRPr>
            </a:pPr>
            <a:r>
              <a:t>statistics +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62D34"/>
                </a:solidFill>
                <a:latin typeface="Aptos"/>
              </a:defRPr>
            </a:pPr>
            <a:r>
              <a:t>• Business understanding → data preparation → EDA → statistical analysis → feature engineering → Machine Learning → evaluation → business interpretation</a:t>
            </a:r>
          </a:p>
          <a:p>
            <a:pPr>
              <a:spcAft>
                <a:spcPts val="900"/>
              </a:spcAft>
              <a:defRPr sz="1900">
                <a:solidFill>
                  <a:srgbClr val="262D34"/>
                </a:solidFill>
                <a:latin typeface="Aptos"/>
              </a:defRPr>
            </a:pPr>
            <a:r>
              <a:t>• Key variables include Starting Salary, Current Job Level, Years to Promotion, Internships Completed and other career-related indicators.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2" name="Hexagon 11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1"/>
                </a:solidFill>
                <a:latin typeface="Aptos Display"/>
              </a:defRPr>
            </a:pPr>
            <a:r>
              <a:t>Exploratory Analysis: Career Level &amp; Salary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Tableau visualization</a:t>
            </a:r>
          </a:p>
        </p:txBody>
      </p:sp>
      <p:pic>
        <p:nvPicPr>
          <p:cNvPr id="5" name="Picture 4" descr="15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011" y="1143000"/>
            <a:ext cx="8813498" cy="5257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143000"/>
            <a:ext cx="11155680" cy="5257800"/>
          </a:xfrm>
          <a:prstGeom prst="rect">
            <a:avLst/>
          </a:prstGeom>
          <a:noFill/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0" name="Hexagon 9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1"/>
                </a:solidFill>
                <a:latin typeface="Aptos Display"/>
              </a:defRPr>
            </a:pPr>
            <a:r>
              <a:t>Exploratory Analysis: Salary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Python visualization</a:t>
            </a:r>
          </a:p>
        </p:txBody>
      </p:sp>
      <p:pic>
        <p:nvPicPr>
          <p:cNvPr id="5" name="Picture 4" descr="3 regressao linear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44510"/>
            <a:ext cx="6492240" cy="48547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1143000"/>
            <a:ext cx="6492240" cy="5257800"/>
          </a:xfrm>
          <a:prstGeom prst="rect">
            <a:avLst/>
          </a:prstGeom>
          <a:noFill/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0" y="164592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62D34"/>
                </a:solidFill>
                <a:latin typeface="Aptos"/>
              </a:defRPr>
            </a:pPr>
            <a:r>
              <a:t>• Starting Salary spans a broad range in the sample.</a:t>
            </a:r>
          </a:p>
          <a:p>
            <a:pPr>
              <a:spcAft>
                <a:spcPts val="900"/>
              </a:spcAft>
              <a:defRPr sz="1700">
                <a:solidFill>
                  <a:srgbClr val="262D34"/>
                </a:solidFill>
                <a:latin typeface="Aptos"/>
              </a:defRPr>
            </a:pPr>
            <a:r>
              <a:t>• The distribution is concentrated toward the higher end of the observed range.</a:t>
            </a:r>
          </a:p>
          <a:p>
            <a:pPr>
              <a:spcAft>
                <a:spcPts val="900"/>
              </a:spcAft>
              <a:defRPr sz="1700">
                <a:solidFill>
                  <a:srgbClr val="262D34"/>
                </a:solidFill>
                <a:latin typeface="Aptos"/>
              </a:defRPr>
            </a:pPr>
            <a:r>
              <a:t>• This motivates combining descriptive analysis with predictive modelling.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1" name="Hexagon 10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1"/>
                </a:solidFill>
                <a:latin typeface="Aptos Display"/>
              </a:defRPr>
            </a:pPr>
            <a:r>
              <a:t>Career Progression &amp; Starting Salary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Tableau dashboard</a:t>
            </a:r>
          </a:p>
        </p:txBody>
      </p:sp>
      <p:pic>
        <p:nvPicPr>
          <p:cNvPr id="5" name="Picture 4" descr="14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309" y="1143000"/>
            <a:ext cx="10622902" cy="5257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143000"/>
            <a:ext cx="11155680" cy="5257800"/>
          </a:xfrm>
          <a:prstGeom prst="rect">
            <a:avLst/>
          </a:prstGeom>
          <a:noFill/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0" name="Hexagon 9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1"/>
                </a:solidFill>
                <a:latin typeface="Aptos Display"/>
              </a:defRPr>
            </a:pPr>
            <a:r>
              <a:t>Statistical Analysis: OLS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Testing relationships before moving to prediction</a:t>
            </a:r>
          </a:p>
        </p:txBody>
      </p:sp>
      <p:pic>
        <p:nvPicPr>
          <p:cNvPr id="5" name="Picture 4" descr="3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46546"/>
            <a:ext cx="7498079" cy="46507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143000"/>
            <a:ext cx="7498079" cy="5257800"/>
          </a:xfrm>
          <a:prstGeom prst="rect">
            <a:avLst/>
          </a:prstGeom>
          <a:noFill/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321040" y="1417320"/>
            <a:ext cx="2834640" cy="1097280"/>
          </a:xfrm>
          <a:prstGeom prst="roundRect">
            <a:avLst/>
          </a:prstGeom>
          <a:solidFill>
            <a:srgbClr val="E7F0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21F31"/>
                </a:solidFill>
                <a:latin typeface="Aptos Display"/>
              </a:defRPr>
            </a:pPr>
            <a:r>
              <a:t>0.899</a:t>
            </a:r>
          </a:p>
          <a:p>
            <a:pPr algn="ctr">
              <a:defRPr sz="1000">
                <a:solidFill>
                  <a:srgbClr val="69737D"/>
                </a:solidFill>
                <a:latin typeface="Aptos"/>
              </a:defRPr>
            </a:pPr>
            <a:r>
              <a:t>OLS R²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743200"/>
            <a:ext cx="2834640" cy="1097280"/>
          </a:xfrm>
          <a:prstGeom prst="roundRect">
            <a:avLst/>
          </a:prstGeom>
          <a:solidFill>
            <a:srgbClr val="E7F0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21F31"/>
                </a:solidFill>
                <a:latin typeface="Aptos Display"/>
              </a:defRPr>
            </a:pPr>
            <a:r>
              <a:t>0.889</a:t>
            </a:r>
          </a:p>
          <a:p>
            <a:pPr algn="ctr">
              <a:defRPr sz="1000">
                <a:solidFill>
                  <a:srgbClr val="69737D"/>
                </a:solidFill>
                <a:latin typeface="Aptos"/>
              </a:defRPr>
            </a:pPr>
            <a:r>
              <a:t>Adjusted R²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41605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62D34"/>
                </a:solidFill>
                <a:latin typeface="Aptos"/>
              </a:defRPr>
            </a:pPr>
            <a:r>
              <a:t>• The OLS model explains a large share of observed salary variation.</a:t>
            </a:r>
          </a:p>
          <a:p>
            <a:pPr>
              <a:spcAft>
                <a:spcPts val="900"/>
              </a:spcAft>
              <a:defRPr sz="1300">
                <a:solidFill>
                  <a:srgbClr val="262D34"/>
                </a:solidFill>
                <a:latin typeface="Aptos"/>
              </a:defRPr>
            </a:pPr>
            <a:r>
              <a:t>• Several included predictors are statistically significant in this sample.</a:t>
            </a:r>
          </a:p>
          <a:p>
            <a:pPr>
              <a:spcAft>
                <a:spcPts val="900"/>
              </a:spcAft>
              <a:defRPr sz="1300">
                <a:solidFill>
                  <a:srgbClr val="262D34"/>
                </a:solidFill>
                <a:latin typeface="Aptos"/>
              </a:defRPr>
            </a:pPr>
            <a:r>
              <a:t>• Statistical significance and predictive performance answer different questions.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3" name="Hexagon 12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1"/>
                </a:solidFill>
                <a:latin typeface="Aptos Display"/>
              </a:defRPr>
            </a:pPr>
            <a:r>
              <a:t>Linear Regression: Interpreting Associations</a:t>
            </a:r>
          </a:p>
        </p:txBody>
      </p:sp>
      <p:pic>
        <p:nvPicPr>
          <p:cNvPr id="4" name="Picture 3" descr="1 regressao linear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96604"/>
            <a:ext cx="6400800" cy="405915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1188720"/>
            <a:ext cx="6400800" cy="5074920"/>
          </a:xfrm>
          <a:prstGeom prst="rect">
            <a:avLst/>
          </a:prstGeom>
          <a:noFill/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0" y="1508760"/>
            <a:ext cx="4023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62D34"/>
                </a:solidFill>
                <a:latin typeface="Aptos"/>
              </a:defRPr>
            </a:pPr>
            <a:r>
              <a:t>• Internships Completed: positive coefficient</a:t>
            </a:r>
          </a:p>
          <a:p>
            <a:pPr>
              <a:spcAft>
                <a:spcPts val="900"/>
              </a:spcAft>
              <a:defRPr sz="1700">
                <a:solidFill>
                  <a:srgbClr val="262D34"/>
                </a:solidFill>
                <a:latin typeface="Aptos"/>
              </a:defRPr>
            </a:pPr>
            <a:r>
              <a:t>• Years to Promotion: negative coefficient</a:t>
            </a:r>
          </a:p>
          <a:p>
            <a:pPr>
              <a:spcAft>
                <a:spcPts val="900"/>
              </a:spcAft>
              <a:defRPr sz="1700">
                <a:solidFill>
                  <a:srgbClr val="262D34"/>
                </a:solidFill>
                <a:latin typeface="Aptos"/>
              </a:defRPr>
            </a:pPr>
            <a:r>
              <a:t>• Gender_Male: positive coefficient in the fitted model</a:t>
            </a:r>
          </a:p>
          <a:p>
            <a:pPr>
              <a:spcAft>
                <a:spcPts val="900"/>
              </a:spcAft>
              <a:defRPr sz="1700">
                <a:solidFill>
                  <a:srgbClr val="262D34"/>
                </a:solidFill>
                <a:latin typeface="Aptos"/>
              </a:defRPr>
            </a:pPr>
            <a:r>
              <a:t>• Current Job Level Mid: positive coefficient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480060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E18C30"/>
                </a:solidFill>
                <a:latin typeface="Aptos"/>
              </a:defRPr>
            </a:pPr>
            <a:r>
              <a:t>• Important: coefficients describe model associations, not causal effects.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1" name="Hexagon 10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1"/>
                </a:solidFill>
                <a:latin typeface="Aptos Display"/>
              </a:defRPr>
            </a:pPr>
            <a:r>
              <a:t>Machine Learning: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Cross-validation and test-set performance</a:t>
            </a:r>
          </a:p>
        </p:txBody>
      </p:sp>
      <p:pic>
        <p:nvPicPr>
          <p:cNvPr id="5" name="Picture 4" descr="10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396" y="1097280"/>
            <a:ext cx="3770727" cy="2240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097280"/>
            <a:ext cx="11247120" cy="2240280"/>
          </a:xfrm>
          <a:prstGeom prst="rect">
            <a:avLst/>
          </a:prstGeom>
          <a:noFill/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11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381530"/>
            <a:ext cx="5486400" cy="8838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" y="3429000"/>
            <a:ext cx="5486400" cy="2788920"/>
          </a:xfrm>
          <a:prstGeom prst="rect">
            <a:avLst/>
          </a:prstGeom>
          <a:noFill/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2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383628"/>
            <a:ext cx="5486400" cy="87966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72200" y="3429000"/>
            <a:ext cx="5486400" cy="2788920"/>
          </a:xfrm>
          <a:prstGeom prst="rect">
            <a:avLst/>
          </a:prstGeom>
          <a:noFill/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4" name="Hexagon 13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1"/>
                </a:solidFill>
                <a:latin typeface="Aptos Display"/>
              </a:defRPr>
            </a:pPr>
            <a:r>
              <a:t>Best Performing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Decision Tree leads on cross-validation</a:t>
            </a:r>
          </a:p>
        </p:txBody>
      </p:sp>
      <p:pic>
        <p:nvPicPr>
          <p:cNvPr id="5" name="Picture 4" descr="13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63610"/>
            <a:ext cx="6492240" cy="321657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1188720"/>
            <a:ext cx="6492240" cy="5166360"/>
          </a:xfrm>
          <a:prstGeom prst="rect">
            <a:avLst/>
          </a:prstGeom>
          <a:noFill/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52360" y="1417320"/>
            <a:ext cx="3383280" cy="1097280"/>
          </a:xfrm>
          <a:prstGeom prst="roundRect">
            <a:avLst/>
          </a:prstGeom>
          <a:solidFill>
            <a:srgbClr val="E7F0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21F31"/>
                </a:solidFill>
                <a:latin typeface="Aptos Display"/>
              </a:defRPr>
            </a:pPr>
            <a:r>
              <a:t>0.904</a:t>
            </a:r>
          </a:p>
          <a:p>
            <a:pPr algn="ctr">
              <a:defRPr sz="1000">
                <a:solidFill>
                  <a:srgbClr val="69737D"/>
                </a:solidFill>
                <a:latin typeface="Aptos"/>
              </a:defRPr>
            </a:pPr>
            <a:r>
              <a:t>Decision Tree CV R²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2743200"/>
            <a:ext cx="3383280" cy="1097280"/>
          </a:xfrm>
          <a:prstGeom prst="roundRect">
            <a:avLst/>
          </a:prstGeom>
          <a:solidFill>
            <a:srgbClr val="E7F0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21F31"/>
                </a:solidFill>
                <a:latin typeface="Aptos Display"/>
              </a:defRPr>
            </a:pPr>
            <a:r>
              <a:t>€1,653</a:t>
            </a:r>
          </a:p>
          <a:p>
            <a:pPr algn="ctr">
              <a:defRPr sz="1000">
                <a:solidFill>
                  <a:srgbClr val="69737D"/>
                </a:solidFill>
                <a:latin typeface="Aptos"/>
              </a:defRPr>
            </a:pPr>
            <a:r>
              <a:t>Decision Tree Test MAE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4069080"/>
            <a:ext cx="3383280" cy="1097280"/>
          </a:xfrm>
          <a:prstGeom prst="roundRect">
            <a:avLst/>
          </a:prstGeom>
          <a:solidFill>
            <a:srgbClr val="E7F0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21F31"/>
                </a:solidFill>
                <a:latin typeface="Aptos Display"/>
              </a:defRPr>
            </a:pPr>
            <a:r>
              <a:t>€2,136</a:t>
            </a:r>
          </a:p>
          <a:p>
            <a:pPr algn="ctr">
              <a:defRPr sz="1000">
                <a:solidFill>
                  <a:srgbClr val="69737D"/>
                </a:solidFill>
                <a:latin typeface="Aptos"/>
              </a:defRPr>
            </a:pPr>
            <a:r>
              <a:t>Decision Tree Test RMSE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544068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262D34"/>
                </a:solidFill>
                <a:latin typeface="Aptos"/>
              </a:defRPr>
            </a:pPr>
            <a:r>
              <a:t>• Gradient Boosting was extremely close on the test set.</a:t>
            </a:r>
          </a:p>
          <a:p>
            <a:pPr>
              <a:spcAft>
                <a:spcPts val="900"/>
              </a:spcAft>
              <a:defRPr sz="1200">
                <a:solidFill>
                  <a:srgbClr val="262D34"/>
                </a:solidFill>
                <a:latin typeface="Aptos"/>
              </a:defRPr>
            </a:pPr>
            <a:r>
              <a:t>• Random Forest also showed strong predictive performance.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4" name="Hexagon 13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1"/>
                </a:solidFill>
                <a:latin typeface="Aptos Display"/>
              </a:defRPr>
            </a:pPr>
            <a:r>
              <a:t>Decision Tree: Actual vs Predicted Salary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Model validation on the test set</a:t>
            </a:r>
          </a:p>
        </p:txBody>
      </p:sp>
      <p:pic>
        <p:nvPicPr>
          <p:cNvPr id="5" name="Picture 4" descr="6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46250"/>
            <a:ext cx="6400800" cy="420557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1143000"/>
            <a:ext cx="6400800" cy="5212080"/>
          </a:xfrm>
          <a:prstGeom prst="rect">
            <a:avLst/>
          </a:prstGeom>
          <a:noFill/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0" y="1554480"/>
            <a:ext cx="3931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62D34"/>
                </a:solidFill>
                <a:latin typeface="Aptos"/>
              </a:defRPr>
            </a:pPr>
            <a:r>
              <a:t>• Predictions are close to the 45° reference line.</a:t>
            </a:r>
          </a:p>
          <a:p>
            <a:pPr>
              <a:spcAft>
                <a:spcPts val="900"/>
              </a:spcAft>
              <a:defRPr sz="1800">
                <a:solidFill>
                  <a:srgbClr val="262D34"/>
                </a:solidFill>
                <a:latin typeface="Aptos"/>
              </a:defRPr>
            </a:pPr>
            <a:r>
              <a:t>• Test R² is approximately 0.978.</a:t>
            </a:r>
          </a:p>
          <a:p>
            <a:pPr>
              <a:spcAft>
                <a:spcPts val="900"/>
              </a:spcAft>
              <a:defRPr sz="1800">
                <a:solidFill>
                  <a:srgbClr val="262D34"/>
                </a:solidFill>
                <a:latin typeface="Aptos"/>
              </a:defRPr>
            </a:pPr>
            <a:r>
              <a:t>• The model captures the salary patterns in the held-out test sample well.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1" name="Hexagon 10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1"/>
                </a:solidFill>
                <a:latin typeface="Aptos Display"/>
              </a:defRPr>
            </a:pPr>
            <a:r>
              <a:t>What Drives the Prediction?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Feature importance across tree-based models</a:t>
            </a:r>
          </a:p>
        </p:txBody>
      </p:sp>
      <p:pic>
        <p:nvPicPr>
          <p:cNvPr id="5" name="Picture 4" descr="5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4321"/>
            <a:ext cx="5943600" cy="39294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143000"/>
            <a:ext cx="5943600" cy="5212080"/>
          </a:xfrm>
          <a:prstGeom prst="rect">
            <a:avLst/>
          </a:prstGeom>
          <a:noFill/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9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607" y="1280160"/>
            <a:ext cx="3001945" cy="2286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720840" y="1280160"/>
            <a:ext cx="4983480" cy="2286000"/>
          </a:xfrm>
          <a:prstGeom prst="rect">
            <a:avLst/>
          </a:prstGeom>
          <a:noFill/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0" y="37947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62D34"/>
                </a:solidFill>
                <a:latin typeface="Aptos"/>
              </a:defRPr>
            </a:pPr>
            <a:r>
              <a:t>• Years to Promotion is the strongest feature in the Decision Tree.</a:t>
            </a:r>
          </a:p>
          <a:p>
            <a:pPr>
              <a:spcAft>
                <a:spcPts val="900"/>
              </a:spcAft>
              <a:defRPr sz="1600">
                <a:solidFill>
                  <a:srgbClr val="262D34"/>
                </a:solidFill>
                <a:latin typeface="Aptos"/>
              </a:defRPr>
            </a:pPr>
            <a:r>
              <a:t>• Average importance across three tree-based models also ranks Years to Promotion first.</a:t>
            </a:r>
          </a:p>
          <a:p>
            <a:pPr>
              <a:spcAft>
                <a:spcPts val="900"/>
              </a:spcAft>
              <a:defRPr sz="1600">
                <a:solidFill>
                  <a:srgbClr val="262D34"/>
                </a:solidFill>
                <a:latin typeface="Aptos"/>
              </a:defRPr>
            </a:pPr>
            <a:r>
              <a:t>• Internships Completed is the second-largest average importance.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3" name="Hexagon 12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1"/>
                </a:solidFill>
                <a:latin typeface="Aptos Display"/>
              </a:defRPr>
            </a:pPr>
            <a:r>
              <a:t>Model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Residuals and actual-vs-predicted checks</a:t>
            </a:r>
          </a:p>
        </p:txBody>
      </p:sp>
      <p:pic>
        <p:nvPicPr>
          <p:cNvPr id="5" name="Picture 4" descr="7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67986"/>
            <a:ext cx="5669280" cy="35163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1188720"/>
            <a:ext cx="5669280" cy="5074920"/>
          </a:xfrm>
          <a:prstGeom prst="rect">
            <a:avLst/>
          </a:prstGeom>
          <a:noFill/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2 regressao linear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38133"/>
            <a:ext cx="5120640" cy="317609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92240" y="1188720"/>
            <a:ext cx="5120640" cy="5074920"/>
          </a:xfrm>
          <a:prstGeom prst="rect">
            <a:avLst/>
          </a:prstGeom>
          <a:noFill/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2" name="Hexagon 11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1"/>
                </a:solidFill>
                <a:latin typeface="Aptos Display"/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What the combined Tableau + Python analysis tells us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234440"/>
            <a:ext cx="502920" cy="502920"/>
          </a:xfrm>
          <a:prstGeom prst="ellipse">
            <a:avLst/>
          </a:prstGeom>
          <a:solidFill>
            <a:srgbClr val="3A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21615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62D34"/>
                </a:solidFill>
              </a:defRPr>
            </a:pPr>
            <a:r>
              <a:t>Career level is strongly associated with starting salary.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194560"/>
            <a:ext cx="502920" cy="502920"/>
          </a:xfrm>
          <a:prstGeom prst="ellipse">
            <a:avLst/>
          </a:prstGeom>
          <a:solidFill>
            <a:srgbClr val="3A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17627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62D34"/>
                </a:solidFill>
              </a:defRPr>
            </a:pPr>
            <a:r>
              <a:t>Years to Promotion is the strongest predictive feature in the tree-based models.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154680"/>
            <a:ext cx="502920" cy="502920"/>
          </a:xfrm>
          <a:prstGeom prst="ellipse">
            <a:avLst/>
          </a:prstGeom>
          <a:solidFill>
            <a:srgbClr val="3A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13639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62D34"/>
                </a:solidFill>
              </a:defRPr>
            </a:pPr>
            <a:r>
              <a:t>Internships Completed contributes meaningfully to the predictive models.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4114800"/>
            <a:ext cx="502920" cy="502920"/>
          </a:xfrm>
          <a:prstGeom prst="ellipse">
            <a:avLst/>
          </a:prstGeom>
          <a:solidFill>
            <a:srgbClr val="3A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09651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62D34"/>
                </a:solidFill>
              </a:defRPr>
            </a:pPr>
            <a:r>
              <a:t>Decision Tree Regression achieved the strongest cross-validation performance.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5074920"/>
            <a:ext cx="502920" cy="502920"/>
          </a:xfrm>
          <a:prstGeom prst="ellipse">
            <a:avLst/>
          </a:prstGeom>
          <a:solidFill>
            <a:srgbClr val="3A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505663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62D34"/>
                </a:solidFill>
              </a:defRPr>
            </a:pPr>
            <a:r>
              <a:t>The results support relationships between career characteristics and salary — not a causal claim.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8" name="Hexagon 17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So… Should Marketing Professionals Learn Data Analytics?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DD7E1"/>
                </a:solidFill>
                <a:latin typeface="Aptos"/>
              </a:defRPr>
            </a:pPr>
            <a:r>
              <a:t>The business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YES — with a data-driven perspective.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241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E1EBF4"/>
                </a:solidFill>
                <a:latin typeface="Aptos"/>
              </a:defRPr>
            </a:pPr>
            <a:r>
              <a:t>• Data literacy and technical skills can strengthen a marketing professional’s ability to understand business performance and make evidence-based decisions.</a:t>
            </a:r>
          </a:p>
          <a:p>
            <a:pPr>
              <a:spcAft>
                <a:spcPts val="900"/>
              </a:spcAft>
              <a:defRPr sz="2000">
                <a:solidFill>
                  <a:srgbClr val="E1EBF4"/>
                </a:solidFill>
                <a:latin typeface="Aptos"/>
              </a:defRPr>
            </a:pPr>
            <a:r>
              <a:t>• Career development and practical experience are strongly associated with salary outcomes in this dataset.</a:t>
            </a:r>
          </a:p>
          <a:p>
            <a:pPr>
              <a:spcAft>
                <a:spcPts val="900"/>
              </a:spcAft>
              <a:defRPr sz="2000">
                <a:solidFill>
                  <a:srgbClr val="E1EBF4"/>
                </a:solidFill>
                <a:latin typeface="Aptos"/>
              </a:defRPr>
            </a:pPr>
            <a:r>
              <a:t>• This project does not prove that learning Data Analytics directly causes higher salaries.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0" name="Hexagon 9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1"/>
                </a:solidFill>
                <a:latin typeface="Aptos Display"/>
              </a:defRPr>
            </a:pPr>
            <a:r>
              <a:t>From Marketing to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A personal motivation behind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2514600" cy="1828800"/>
          </a:xfrm>
          <a:prstGeom prst="roundRect">
            <a:avLst/>
          </a:prstGeom>
          <a:solidFill>
            <a:srgbClr val="E7F0F8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21F31"/>
                </a:solidFill>
              </a:defRPr>
            </a:pPr>
            <a:r>
              <a:t>Marketing</a:t>
            </a:r>
          </a:p>
          <a:p>
            <a:pPr algn="ctr">
              <a:defRPr sz="1200">
                <a:solidFill>
                  <a:srgbClr val="69737D"/>
                </a:solidFill>
              </a:defRPr>
            </a:pPr>
            <a:r>
              <a:t>Business &amp; customer 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36391" y="2578608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A74A6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965960"/>
            <a:ext cx="2514600" cy="1828800"/>
          </a:xfrm>
          <a:prstGeom prst="roundRect">
            <a:avLst/>
          </a:prstGeom>
          <a:solidFill>
            <a:srgbClr val="E7F0F8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21F31"/>
                </a:solidFill>
              </a:defRPr>
            </a:pPr>
            <a:r>
              <a:t>Data Analytics</a:t>
            </a:r>
          </a:p>
          <a:p>
            <a:pPr algn="ctr">
              <a:defRPr sz="1200">
                <a:solidFill>
                  <a:srgbClr val="69737D"/>
                </a:solidFill>
              </a:defRPr>
            </a:pPr>
            <a:r>
              <a:t>SQL • Python • Tableau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71031" y="2578608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A74A6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65960"/>
            <a:ext cx="2514600" cy="1828800"/>
          </a:xfrm>
          <a:prstGeom prst="roundRect">
            <a:avLst/>
          </a:prstGeom>
          <a:solidFill>
            <a:srgbClr val="E7F0F8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21F31"/>
                </a:solidFill>
              </a:defRPr>
            </a:pPr>
            <a:r>
              <a:t>Machine Learning</a:t>
            </a:r>
          </a:p>
          <a:p>
            <a:pPr algn="ctr">
              <a:defRPr sz="1200">
                <a:solidFill>
                  <a:srgbClr val="69737D"/>
                </a:solidFill>
              </a:defRPr>
            </a:pPr>
            <a:r>
              <a:t>Prediction &amp; pattern recognition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5672" y="2578608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A74A6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1965960"/>
            <a:ext cx="2514600" cy="1828800"/>
          </a:xfrm>
          <a:prstGeom prst="roundRect">
            <a:avLst/>
          </a:prstGeom>
          <a:solidFill>
            <a:srgbClr val="E1F0E2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21F31"/>
                </a:solidFill>
              </a:defRPr>
            </a:pPr>
            <a:r>
              <a:t>Career Opportunities</a:t>
            </a:r>
          </a:p>
          <a:p>
            <a:pPr algn="ctr">
              <a:defRPr sz="1200">
                <a:solidFill>
                  <a:srgbClr val="69737D"/>
                </a:solidFill>
              </a:defRPr>
            </a:pPr>
            <a:r>
              <a:t>Data-driven decision making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720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358C8C"/>
                </a:solidFill>
              </a:defRPr>
            </a:pPr>
            <a:r>
              <a:t>The goal is not to replace marketing expertise with data — but to combine both.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6" name="Hexagon 15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1"/>
                </a:solidFill>
                <a:latin typeface="Aptos Display"/>
              </a:defRPr>
            </a:pPr>
            <a:r>
              <a:t>Final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377440" cy="1234440"/>
          </a:xfrm>
          <a:prstGeom prst="roundRect">
            <a:avLst/>
          </a:prstGeom>
          <a:solidFill>
            <a:srgbClr val="E7F0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21F31"/>
                </a:solidFill>
                <a:latin typeface="Aptos Display"/>
              </a:defRPr>
            </a:pPr>
            <a:r>
              <a:t>0.904</a:t>
            </a:r>
          </a:p>
          <a:p>
            <a:pPr algn="ctr">
              <a:defRPr sz="1000">
                <a:solidFill>
                  <a:srgbClr val="69737D"/>
                </a:solidFill>
                <a:latin typeface="Aptos"/>
              </a:defRPr>
            </a:pPr>
            <a:r>
              <a:t>Best CV R²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280160"/>
            <a:ext cx="2377440" cy="1234440"/>
          </a:xfrm>
          <a:prstGeom prst="roundRect">
            <a:avLst/>
          </a:prstGeom>
          <a:solidFill>
            <a:srgbClr val="E7F0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21F31"/>
                </a:solidFill>
                <a:latin typeface="Aptos Display"/>
              </a:defRPr>
            </a:pPr>
            <a:r>
              <a:t>0.978</a:t>
            </a:r>
          </a:p>
          <a:p>
            <a:pPr algn="ctr">
              <a:defRPr sz="1000">
                <a:solidFill>
                  <a:srgbClr val="69737D"/>
                </a:solidFill>
                <a:latin typeface="Aptos"/>
              </a:defRPr>
            </a:pPr>
            <a:r>
              <a:t>Best Test R²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280160"/>
            <a:ext cx="2377440" cy="1234440"/>
          </a:xfrm>
          <a:prstGeom prst="roundRect">
            <a:avLst/>
          </a:prstGeom>
          <a:solidFill>
            <a:srgbClr val="E7F0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21F31"/>
                </a:solidFill>
                <a:latin typeface="Aptos Display"/>
              </a:defRPr>
            </a:pPr>
            <a:r>
              <a:t>€1,653</a:t>
            </a:r>
          </a:p>
          <a:p>
            <a:pPr algn="ctr">
              <a:defRPr sz="1000">
                <a:solidFill>
                  <a:srgbClr val="69737D"/>
                </a:solidFill>
                <a:latin typeface="Aptos"/>
              </a:defRPr>
            </a:pPr>
            <a:r>
              <a:t>Best Test MAE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280160"/>
            <a:ext cx="2377440" cy="1234440"/>
          </a:xfrm>
          <a:prstGeom prst="roundRect">
            <a:avLst/>
          </a:prstGeom>
          <a:solidFill>
            <a:srgbClr val="E7F0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21F31"/>
                </a:solidFill>
                <a:latin typeface="Aptos Display"/>
              </a:defRPr>
            </a:pPr>
            <a:r>
              <a:t>1st</a:t>
            </a:r>
          </a:p>
          <a:p>
            <a:pPr algn="ctr">
              <a:defRPr sz="1000">
                <a:solidFill>
                  <a:srgbClr val="69737D"/>
                </a:solidFill>
                <a:latin typeface="Aptos"/>
              </a:defRPr>
            </a:pPr>
            <a:r>
              <a:t>Years to Promotion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10241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62D34"/>
                </a:solidFill>
                <a:latin typeface="Aptos"/>
              </a:defRPr>
            </a:pPr>
            <a:r>
              <a:t>• Use Tableau to communicate the business patterns.</a:t>
            </a:r>
          </a:p>
          <a:p>
            <a:pPr>
              <a:spcAft>
                <a:spcPts val="900"/>
              </a:spcAft>
              <a:defRPr sz="2100">
                <a:solidFill>
                  <a:srgbClr val="262D34"/>
                </a:solidFill>
                <a:latin typeface="Aptos"/>
              </a:defRPr>
            </a:pPr>
            <a:r>
              <a:t>• Use statistics to understand relationships.</a:t>
            </a:r>
          </a:p>
          <a:p>
            <a:pPr>
              <a:spcAft>
                <a:spcPts val="900"/>
              </a:spcAft>
              <a:defRPr sz="2100">
                <a:solidFill>
                  <a:srgbClr val="262D34"/>
                </a:solidFill>
                <a:latin typeface="Aptos"/>
              </a:defRPr>
            </a:pPr>
            <a:r>
              <a:t>• Use Machine Learning to evaluate predictive performance.</a:t>
            </a:r>
          </a:p>
          <a:p>
            <a:pPr>
              <a:spcAft>
                <a:spcPts val="900"/>
              </a:spcAft>
              <a:defRPr sz="2100">
                <a:solidFill>
                  <a:srgbClr val="262D34"/>
                </a:solidFill>
                <a:latin typeface="Aptos"/>
              </a:defRPr>
            </a:pPr>
            <a:r>
              <a:t>• Turn the results into practical, evidence-based recommendations.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3A74A6"/>
                </a:solidFill>
              </a:defRPr>
            </a:pPr>
            <a:r>
              <a:t>Thank you  •  Questions?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3" name="Hexagon 12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SQL Validation &amp; Exploratory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/>
            </a:pPr>
            <a:r>
              <a:t>MySQL was added as the data exploration and aggregation layer before Python, Machine Learning and Tableau.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2377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400</a:t>
            </a:r>
          </a:p>
          <a:p>
            <a:pPr algn="ctr">
              <a:defRPr sz="1100"/>
            </a:pPr>
            <a:r>
              <a:t>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828800"/>
            <a:ext cx="2377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87,562.50</a:t>
            </a:r>
          </a:p>
          <a:p>
            <a:pPr algn="ctr">
              <a:defRPr sz="1100"/>
            </a:pPr>
            <a:r>
              <a:t>average salary*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828800"/>
            <a:ext cx="2377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31,000</a:t>
            </a:r>
          </a:p>
          <a:p>
            <a:pPr algn="ctr">
              <a:defRPr sz="1100"/>
            </a:pPr>
            <a:r>
              <a:t>minimum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1828800"/>
            <a:ext cx="2377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152,000</a:t>
            </a:r>
          </a:p>
          <a:p>
            <a:pPr algn="ctr">
              <a:defRPr sz="1100"/>
            </a:pPr>
            <a:r>
              <a:t>maximum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Average Starting Salary by Job 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45720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/>
            </a:pPr>
            <a:r>
              <a:t>Job Level     Average</a:t>
            </a:r>
            <a:br/>
            <a:r>
              <a:t>Senior          141,423.73</a:t>
            </a:r>
            <a:br/>
            <a:r>
              <a:t>Mid              87,291.19</a:t>
            </a:r>
            <a:br/>
            <a:r>
              <a:t>Entry            48,725.00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2461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SQL Analysis Covered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703320"/>
            <a:ext cx="4846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• Salary by Field of Study</a:t>
            </a:r>
            <a:br/>
            <a:r>
              <a:t>• Salary by Current Job Level</a:t>
            </a:r>
            <a:br/>
            <a:r>
              <a:t>• Internships / Projects / Certifications vs Salary</a:t>
            </a:r>
            <a:br/>
            <a:r>
              <a:t>• Years to Promotion vs Salary</a:t>
            </a:r>
            <a:br/>
            <a:r>
              <a:t>• University GPA groups vs Salary</a:t>
            </a:r>
            <a:br/>
            <a:r>
              <a:t>• Career Success Profile</a:t>
            </a:r>
            <a:br/>
            <a:r>
              <a:t>• Marketing-specific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9788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/>
            </a:pPr>
            <a:r>
              <a:t>*Starting_Salary remains in the dataset's source currency in SQL; EUR conversion is handled separately in Python/Tableau.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6" name="Hexagon 15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Updated End-to-End Data Analytics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1.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Validation • filtering • aggregation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43400" y="137160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2. Python / Pandas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82880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Cleaning • EDA • feature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9" y="137160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3. Statsmodels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9" y="182880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OLS statistical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4. Scikit-learn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77639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6 regression models •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352044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5. Tableau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977639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Business visualisation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352044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6. Business 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3977639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Interpretation •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9788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SQL is used as a Data Analytics / preparation layer; Machine Learning models remain developed in Python.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9" name="Hexagon 18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A"/>
                </a:solidFill>
                <a:latin typeface="Aptos Display"/>
              </a:defRPr>
            </a:pPr>
            <a:r>
              <a:t>🛠️ Tools &amp;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773"/>
                </a:solidFill>
                <a:latin typeface="Aptos"/>
              </a:defRPr>
            </a:pPr>
            <a:r>
              <a:t>The implemented project workflow and the technologies referenced during planning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474720" cy="141732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B5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t"/>
          <a:lstStyle/>
          <a:p>
            <a:pPr algn="ctr">
              <a:defRPr sz="1600" b="1">
                <a:solidFill>
                  <a:srgbClr val="14233A"/>
                </a:solidFill>
                <a:latin typeface="Aptos"/>
              </a:defRPr>
            </a:pPr>
            <a:r>
              <a:t>🗄️ MySQL / SQL</a:t>
            </a:r>
          </a:p>
          <a:p>
            <a:pPr>
              <a:spcBef>
                <a:spcPts val="700"/>
              </a:spcBef>
              <a:defRPr sz="1250">
                <a:solidFill>
                  <a:srgbClr val="5C6773"/>
                </a:solidFill>
                <a:latin typeface="Aptos"/>
              </a:defRPr>
            </a:pPr>
            <a:r>
              <a:t>Database setup, data validation, filtering, aggregation and exploratory queries.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417320"/>
            <a:ext cx="3474720" cy="141732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B5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t"/>
          <a:lstStyle/>
          <a:p>
            <a:pPr algn="ctr">
              <a:defRPr sz="1600" b="1">
                <a:solidFill>
                  <a:srgbClr val="14233A"/>
                </a:solidFill>
                <a:latin typeface="Aptos"/>
              </a:defRPr>
            </a:pPr>
            <a:r>
              <a:t>🐍 Python / Pandas</a:t>
            </a:r>
          </a:p>
          <a:p>
            <a:pPr>
              <a:spcBef>
                <a:spcPts val="700"/>
              </a:spcBef>
              <a:defRPr sz="1250">
                <a:solidFill>
                  <a:srgbClr val="5C6773"/>
                </a:solidFill>
                <a:latin typeface="Aptos"/>
              </a:defRPr>
            </a:pPr>
            <a:r>
              <a:t>Data cleaning, exploratory analysis, feature engineering and preparation for modelling.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17320"/>
            <a:ext cx="3474720" cy="141732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B5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t"/>
          <a:lstStyle/>
          <a:p>
            <a:pPr algn="ctr">
              <a:defRPr sz="1600" b="1">
                <a:solidFill>
                  <a:srgbClr val="14233A"/>
                </a:solidFill>
                <a:latin typeface="Aptos"/>
              </a:defRPr>
            </a:pPr>
            <a:r>
              <a:t>📐 Statistics</a:t>
            </a:r>
          </a:p>
          <a:p>
            <a:pPr>
              <a:spcBef>
                <a:spcPts val="700"/>
              </a:spcBef>
              <a:defRPr sz="1250">
                <a:solidFill>
                  <a:srgbClr val="5C6773"/>
                </a:solidFill>
                <a:latin typeface="Aptos"/>
              </a:defRPr>
            </a:pPr>
            <a:r>
              <a:t>OLS regression and statistical interpretation before predictive modelling.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54680"/>
            <a:ext cx="3474720" cy="141732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B5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t"/>
          <a:lstStyle/>
          <a:p>
            <a:pPr algn="ctr">
              <a:defRPr sz="1600" b="1">
                <a:solidFill>
                  <a:srgbClr val="14233A"/>
                </a:solidFill>
                <a:latin typeface="Aptos"/>
              </a:defRPr>
            </a:pPr>
            <a:r>
              <a:t>🤖 Scikit-learn</a:t>
            </a:r>
          </a:p>
          <a:p>
            <a:pPr>
              <a:spcBef>
                <a:spcPts val="700"/>
              </a:spcBef>
              <a:defRPr sz="1250">
                <a:solidFill>
                  <a:srgbClr val="5C6773"/>
                </a:solidFill>
                <a:latin typeface="Aptos"/>
              </a:defRPr>
            </a:pPr>
            <a:r>
              <a:t>Regression models, cross-validation, hyperparameter tuning and model evaluation.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154680"/>
            <a:ext cx="3474720" cy="141732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B5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t"/>
          <a:lstStyle/>
          <a:p>
            <a:pPr algn="ctr">
              <a:defRPr sz="1600" b="1">
                <a:solidFill>
                  <a:srgbClr val="14233A"/>
                </a:solidFill>
                <a:latin typeface="Aptos"/>
              </a:defRPr>
            </a:pPr>
            <a:r>
              <a:t>📊 Tableau</a:t>
            </a:r>
          </a:p>
          <a:p>
            <a:pPr>
              <a:spcBef>
                <a:spcPts val="700"/>
              </a:spcBef>
              <a:defRPr sz="1250">
                <a:solidFill>
                  <a:srgbClr val="5C6773"/>
                </a:solidFill>
                <a:latin typeface="Aptos"/>
              </a:defRPr>
            </a:pPr>
            <a:r>
              <a:t>Interactive business visualisation and communication of analytical findings.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154680"/>
            <a:ext cx="3474720" cy="141732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B5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t"/>
          <a:lstStyle/>
          <a:p>
            <a:pPr algn="ctr">
              <a:defRPr sz="1600" b="1">
                <a:solidFill>
                  <a:srgbClr val="14233A"/>
                </a:solidFill>
                <a:latin typeface="Aptos"/>
              </a:defRPr>
            </a:pPr>
            <a:r>
              <a:t>🌐 Git &amp; GitHub</a:t>
            </a:r>
          </a:p>
          <a:p>
            <a:pPr>
              <a:spcBef>
                <a:spcPts val="700"/>
              </a:spcBef>
              <a:defRPr sz="1250">
                <a:solidFill>
                  <a:srgbClr val="5C6773"/>
                </a:solidFill>
                <a:latin typeface="Aptos"/>
              </a:defRPr>
            </a:pPr>
            <a:r>
              <a:t>Version control, project organisation and portfolio documentation.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9834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14233A"/>
                </a:solidFill>
                <a:latin typeface="Aptos"/>
              </a:defRPr>
            </a:pPr>
            <a:r>
              <a:t>• The original README also referenced Power BI and additional algorithms as potential technologies.</a:t>
            </a:r>
          </a:p>
          <a:p>
            <a:pPr>
              <a:spcAft>
                <a:spcPts val="900"/>
              </a:spcAft>
              <a:defRPr sz="1300">
                <a:solidFill>
                  <a:srgbClr val="14233A"/>
                </a:solidFill>
                <a:latin typeface="Aptos"/>
              </a:defRPr>
            </a:pPr>
            <a:r>
              <a:t>• The final implemented workflow documented in the repository focuses on MySQL/SQL → Python/Pandas → Statsmodels → Scikit-learn → Tableau.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4" name="Hexagon 13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A"/>
                </a:solidFill>
                <a:latin typeface="Aptos Display"/>
              </a:defRPr>
            </a:pPr>
            <a:r>
              <a:t>💼 Practical 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773"/>
                </a:solidFill>
                <a:latin typeface="Aptos"/>
              </a:defRPr>
            </a:pPr>
            <a:r>
              <a:t>Turning analytical findings into actionable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3520440" cy="182880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B5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t"/>
          <a:lstStyle/>
          <a:p>
            <a:pPr algn="ctr">
              <a:defRPr sz="1600" b="1">
                <a:solidFill>
                  <a:srgbClr val="14233A"/>
                </a:solidFill>
                <a:latin typeface="Aptos"/>
              </a:defRPr>
            </a:pPr>
            <a:r>
              <a:t>For Marketing Professionals</a:t>
            </a:r>
          </a:p>
          <a:p>
            <a:pPr>
              <a:spcBef>
                <a:spcPts val="700"/>
              </a:spcBef>
              <a:defRPr sz="1250">
                <a:solidFill>
                  <a:srgbClr val="5C6773"/>
                </a:solidFill>
                <a:latin typeface="Aptos"/>
              </a:defRPr>
            </a:pPr>
            <a:r>
              <a:t>Build complementary technical skills in SQL, Python, Statistics, Machine Learning and Data Visualization.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325880"/>
            <a:ext cx="3520440" cy="182880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B5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t"/>
          <a:lstStyle/>
          <a:p>
            <a:pPr algn="ctr">
              <a:defRPr sz="1600" b="1">
                <a:solidFill>
                  <a:srgbClr val="14233A"/>
                </a:solidFill>
                <a:latin typeface="Aptos"/>
              </a:defRPr>
            </a:pPr>
            <a:r>
              <a:t>For Employers</a:t>
            </a:r>
          </a:p>
          <a:p>
            <a:pPr>
              <a:spcBef>
                <a:spcPts val="700"/>
              </a:spcBef>
              <a:defRPr sz="1250">
                <a:solidFill>
                  <a:srgbClr val="5C6773"/>
                </a:solidFill>
                <a:latin typeface="Aptos"/>
              </a:defRPr>
            </a:pPr>
            <a:r>
              <a:t>Evaluate practical analytical competencies alongside formal education when hiring for data-driven Marketing roles.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325880"/>
            <a:ext cx="3520440" cy="182880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B5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t"/>
          <a:lstStyle/>
          <a:p>
            <a:pPr algn="ctr">
              <a:defRPr sz="1600" b="1">
                <a:solidFill>
                  <a:srgbClr val="14233A"/>
                </a:solidFill>
                <a:latin typeface="Aptos"/>
              </a:defRPr>
            </a:pPr>
            <a:r>
              <a:t>For Career Development</a:t>
            </a:r>
          </a:p>
          <a:p>
            <a:pPr>
              <a:spcBef>
                <a:spcPts val="700"/>
              </a:spcBef>
              <a:defRPr sz="1250">
                <a:solidFill>
                  <a:srgbClr val="5C6773"/>
                </a:solidFill>
                <a:latin typeface="Aptos"/>
              </a:defRPr>
            </a:pPr>
            <a:r>
              <a:t>Use bootcamps, certifications, internships and portfolio projects to demonstrate practical analytical capability.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11880"/>
            <a:ext cx="106984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4233A"/>
                </a:solidFill>
                <a:latin typeface="Aptos"/>
              </a:defRPr>
            </a:pPr>
            <a:r>
              <a:t>• Data literacy helps professionals ask better questions, test assumptions and support evidence-based decisions.</a:t>
            </a:r>
          </a:p>
          <a:p>
            <a:pPr>
              <a:spcAft>
                <a:spcPts val="900"/>
              </a:spcAft>
              <a:defRPr sz="1500">
                <a:solidFill>
                  <a:srgbClr val="14233A"/>
                </a:solidFill>
                <a:latin typeface="Aptos"/>
              </a:defRPr>
            </a:pPr>
            <a:r>
              <a:t>• Machine Learning should be treated as a decision-support tool, not an automatic decision-making system.</a:t>
            </a:r>
          </a:p>
          <a:p>
            <a:pPr>
              <a:spcAft>
                <a:spcPts val="900"/>
              </a:spcAft>
              <a:defRPr sz="1500">
                <a:solidFill>
                  <a:srgbClr val="14233A"/>
                </a:solidFill>
                <a:latin typeface="Aptos"/>
              </a:defRPr>
            </a:pPr>
            <a:r>
              <a:t>• The project does not prove that learning Data Analytics causes higher salaries; the findings describe associations and predictive patterns.</a:t>
            </a:r>
          </a:p>
          <a:p>
            <a:pPr>
              <a:spcAft>
                <a:spcPts val="900"/>
              </a:spcAft>
              <a:defRPr sz="1500">
                <a:solidFill>
                  <a:srgbClr val="14233A"/>
                </a:solidFill>
                <a:latin typeface="Aptos"/>
              </a:defRPr>
            </a:pPr>
            <a:r>
              <a:t>• The combination of Marketing knowledge and Data Analytics creates a profile capable of connecting business questions with analytical solutions.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1" name="Hexagon 10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A"/>
                </a:solidFill>
                <a:latin typeface="Aptos Display"/>
              </a:defRPr>
            </a:pPr>
            <a:r>
              <a:t>🔗 References &amp;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773"/>
                </a:solidFill>
                <a:latin typeface="Aptos"/>
              </a:defRPr>
            </a:pPr>
            <a:r>
              <a:t>Public datasets, learning context and technical documentation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303520" cy="132588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B5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t"/>
          <a:lstStyle/>
          <a:p>
            <a:pPr algn="ctr">
              <a:defRPr sz="1600" b="1">
                <a:solidFill>
                  <a:srgbClr val="14233A"/>
                </a:solidFill>
                <a:latin typeface="Aptos"/>
              </a:defRPr>
            </a:pPr>
            <a:r>
              <a:t>📂 Data sources referenced</a:t>
            </a:r>
          </a:p>
          <a:p>
            <a:pPr>
              <a:spcBef>
                <a:spcPts val="700"/>
              </a:spcBef>
              <a:defRPr sz="1250">
                <a:solidFill>
                  <a:srgbClr val="5C6773"/>
                </a:solidFill>
                <a:latin typeface="Aptos"/>
              </a:defRPr>
            </a:pPr>
            <a:r>
              <a:t>Kaggle — Job Salary Prediction Dataset</a:t>
            </a:r>
            <a:br/>
            <a:r>
              <a:t>Kaggle — AI &amp; Data Science Job Market Dataset (2020–2026)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926080"/>
            <a:ext cx="5303520" cy="132588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B5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t"/>
          <a:lstStyle/>
          <a:p>
            <a:pPr algn="ctr">
              <a:defRPr sz="1600" b="1">
                <a:solidFill>
                  <a:srgbClr val="14233A"/>
                </a:solidFill>
                <a:latin typeface="Aptos"/>
              </a:defRPr>
            </a:pPr>
            <a:r>
              <a:t>🎓 Learning context</a:t>
            </a:r>
          </a:p>
          <a:p>
            <a:pPr>
              <a:spcBef>
                <a:spcPts val="700"/>
              </a:spcBef>
              <a:defRPr sz="1250">
                <a:solidFill>
                  <a:srgbClr val="5C6773"/>
                </a:solidFill>
                <a:latin typeface="Aptos"/>
              </a:defRPr>
            </a:pPr>
            <a:r>
              <a:t>Ironhack — Data Analytics Bootcamp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25880"/>
            <a:ext cx="5303520" cy="192024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B5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t"/>
          <a:lstStyle/>
          <a:p>
            <a:pPr algn="ctr">
              <a:defRPr sz="1600" b="1">
                <a:solidFill>
                  <a:srgbClr val="14233A"/>
                </a:solidFill>
                <a:latin typeface="Aptos"/>
              </a:defRPr>
            </a:pPr>
            <a:r>
              <a:t>🧰 Technical documentation</a:t>
            </a:r>
          </a:p>
          <a:p>
            <a:pPr>
              <a:spcBef>
                <a:spcPts val="700"/>
              </a:spcBef>
              <a:defRPr sz="1250">
                <a:solidFill>
                  <a:srgbClr val="5C6773"/>
                </a:solidFill>
                <a:latin typeface="Aptos"/>
              </a:defRPr>
            </a:pPr>
            <a:r>
              <a:t>🐍 Python • Pandas • NumPy</a:t>
            </a:r>
            <a:br/>
            <a:r>
              <a:t>📈 Matplotlib • Seaborn • Scikit-learn</a:t>
            </a:r>
            <a:br/>
            <a:r>
              <a:t>📐 Statsmodels • 🗄️ MySQL</a:t>
            </a:r>
            <a:br/>
            <a:r>
              <a:t>📊 Tableau • 🌐 GitHub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520440"/>
            <a:ext cx="5303520" cy="205740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B5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t"/>
          <a:lstStyle/>
          <a:p>
            <a:pPr algn="ctr">
              <a:defRPr sz="1600" b="1">
                <a:solidFill>
                  <a:srgbClr val="14233A"/>
                </a:solidFill>
                <a:latin typeface="Aptos"/>
              </a:defRPr>
            </a:pPr>
            <a:r>
              <a:t>🌐 Reference websites</a:t>
            </a:r>
          </a:p>
          <a:p>
            <a:pPr>
              <a:spcBef>
                <a:spcPts val="700"/>
              </a:spcBef>
              <a:defRPr sz="1250">
                <a:solidFill>
                  <a:srgbClr val="5C6773"/>
                </a:solidFill>
                <a:latin typeface="Aptos"/>
              </a:defRPr>
            </a:pPr>
            <a:r>
              <a:t>Kaggle: kaggle.com</a:t>
            </a:r>
            <a:br/>
            <a:r>
              <a:t>Ironhack: ironhack.com/pt/data-analytics</a:t>
            </a:r>
            <a:br/>
            <a:r>
              <a:t>Python: python.org  •  Pandas: pandas.pydata.org</a:t>
            </a:r>
            <a:br/>
            <a:r>
              <a:t>Scikit-learn: scikit-learn.org  •  Statsmodels: statsmodels.org</a:t>
            </a:r>
            <a:br/>
            <a:r>
              <a:t>MySQL: mysql.com  •  Tableau: tableau.com  •  GitHub: github.com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074920"/>
            <a:ext cx="5166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14233A"/>
                </a:solidFill>
                <a:latin typeface="Aptos"/>
              </a:defRPr>
            </a:pPr>
            <a:r>
              <a:t>• The README distinguishes sources referenced during planning from tools actually used in the final workflow.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2" name="Hexagon 11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A"/>
                </a:solidFill>
                <a:latin typeface="Aptos Display"/>
              </a:defRPr>
            </a:pPr>
            <a:r>
              <a:t>💡 Final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773"/>
                </a:solidFill>
                <a:latin typeface="Aptos"/>
              </a:defRPr>
            </a:pPr>
            <a:r>
              <a:t>Marketing + Data Analytics = stronger evidence-based decision making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383280" cy="155448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B5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t"/>
          <a:lstStyle/>
          <a:p>
            <a:pPr algn="ctr">
              <a:defRPr sz="1600" b="1">
                <a:solidFill>
                  <a:srgbClr val="14233A"/>
                </a:solidFill>
                <a:latin typeface="Aptos"/>
              </a:defRPr>
            </a:pPr>
            <a:r>
              <a:t>📊 Ask better questions</a:t>
            </a:r>
          </a:p>
          <a:p>
            <a:pPr>
              <a:spcBef>
                <a:spcPts val="700"/>
              </a:spcBef>
              <a:defRPr sz="1250">
                <a:solidFill>
                  <a:srgbClr val="5C6773"/>
                </a:solidFill>
                <a:latin typeface="Aptos"/>
              </a:defRPr>
            </a:pPr>
            <a:r>
              <a:t>Data literacy turns broad business questions into measurable analytical questions.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17320"/>
            <a:ext cx="3383280" cy="155448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B5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t"/>
          <a:lstStyle/>
          <a:p>
            <a:pPr algn="ctr">
              <a:defRPr sz="1600" b="1">
                <a:solidFill>
                  <a:srgbClr val="14233A"/>
                </a:solidFill>
                <a:latin typeface="Aptos"/>
              </a:defRPr>
            </a:pPr>
            <a:r>
              <a:t>🔎 Find patterns</a:t>
            </a:r>
          </a:p>
          <a:p>
            <a:pPr>
              <a:spcBef>
                <a:spcPts val="700"/>
              </a:spcBef>
              <a:defRPr sz="1250">
                <a:solidFill>
                  <a:srgbClr val="5C6773"/>
                </a:solidFill>
                <a:latin typeface="Aptos"/>
              </a:defRPr>
            </a:pPr>
            <a:r>
              <a:t>SQL, Python and statistical analysis help identify relationships and trends.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417320"/>
            <a:ext cx="3383280" cy="155448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B5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t"/>
          <a:lstStyle/>
          <a:p>
            <a:pPr algn="ctr">
              <a:defRPr sz="1600" b="1">
                <a:solidFill>
                  <a:srgbClr val="14233A"/>
                </a:solidFill>
                <a:latin typeface="Aptos"/>
              </a:defRPr>
            </a:pPr>
            <a:r>
              <a:t>🤖 Build evidence</a:t>
            </a:r>
          </a:p>
          <a:p>
            <a:pPr>
              <a:spcBef>
                <a:spcPts val="700"/>
              </a:spcBef>
              <a:defRPr sz="1250">
                <a:solidFill>
                  <a:srgbClr val="5C6773"/>
                </a:solidFill>
                <a:latin typeface="Aptos"/>
              </a:defRPr>
            </a:pPr>
            <a:r>
              <a:t>Machine Learning can support prediction and structured decision-making.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3429000"/>
            <a:ext cx="3383280" cy="155448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B5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t"/>
          <a:lstStyle/>
          <a:p>
            <a:pPr algn="ctr">
              <a:defRPr sz="1600" b="1">
                <a:solidFill>
                  <a:srgbClr val="14233A"/>
                </a:solidFill>
                <a:latin typeface="Aptos"/>
              </a:defRPr>
            </a:pPr>
            <a:r>
              <a:t>📊 Communicate</a:t>
            </a:r>
          </a:p>
          <a:p>
            <a:pPr>
              <a:spcBef>
                <a:spcPts val="700"/>
              </a:spcBef>
              <a:defRPr sz="1250">
                <a:solidFill>
                  <a:srgbClr val="5C6773"/>
                </a:solidFill>
                <a:latin typeface="Aptos"/>
              </a:defRPr>
            </a:pPr>
            <a:r>
              <a:t>Tableau helps translate analysis into accessible business insights.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429000"/>
            <a:ext cx="3383280" cy="155448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B5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t"/>
          <a:lstStyle/>
          <a:p>
            <a:pPr algn="ctr">
              <a:defRPr sz="1600" b="1">
                <a:solidFill>
                  <a:srgbClr val="14233A"/>
                </a:solidFill>
                <a:latin typeface="Aptos"/>
              </a:defRPr>
            </a:pPr>
            <a:r>
              <a:t>💼 Act</a:t>
            </a:r>
          </a:p>
          <a:p>
            <a:pPr>
              <a:spcBef>
                <a:spcPts val="700"/>
              </a:spcBef>
              <a:defRPr sz="1250">
                <a:solidFill>
                  <a:srgbClr val="5C6773"/>
                </a:solidFill>
                <a:latin typeface="Aptos"/>
              </a:defRPr>
            </a:pPr>
            <a:r>
              <a:t>The final goal is not prediction alone, but better business and career decisions.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44068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4233A"/>
                </a:solidFill>
                <a:latin typeface="Aptos"/>
              </a:defRPr>
            </a:pPr>
            <a:r>
              <a:t>• Marketing professionals should consider Data Analytics a valuable complementary skill.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3" name="Hexagon 12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1829</Words>
  <Application>Microsoft Office PowerPoint</Application>
  <PresentationFormat>Ecrã Panorâmico</PresentationFormat>
  <Paragraphs>293</Paragraphs>
  <Slides>24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Teresa Mendes Coelho</cp:lastModifiedBy>
  <cp:revision>1</cp:revision>
  <dcterms:created xsi:type="dcterms:W3CDTF">2013-01-27T09:14:16Z</dcterms:created>
  <dcterms:modified xsi:type="dcterms:W3CDTF">2026-08-14T02:33:33Z</dcterms:modified>
  <cp:category/>
</cp:coreProperties>
</file>